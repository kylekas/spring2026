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1" r:id="rId1"/>
  </p:sldMasterIdLst>
  <p:notesMasterIdLst>
    <p:notesMasterId r:id="rId10"/>
  </p:notesMasterIdLst>
  <p:handoutMasterIdLst>
    <p:handoutMasterId r:id="rId11"/>
  </p:handoutMasterIdLst>
  <p:sldIdLst>
    <p:sldId id="256" r:id="rId2"/>
    <p:sldId id="897" r:id="rId3"/>
    <p:sldId id="898" r:id="rId4"/>
    <p:sldId id="901" r:id="rId5"/>
    <p:sldId id="899" r:id="rId6"/>
    <p:sldId id="900" r:id="rId7"/>
    <p:sldId id="902" r:id="rId8"/>
    <p:sldId id="90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FF"/>
    <a:srgbClr val="99FF66"/>
    <a:srgbClr val="FFFFCC"/>
    <a:srgbClr val="CC3300"/>
    <a:srgbClr val="FF9900"/>
    <a:srgbClr val="CCFF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98" autoAdjust="0"/>
    <p:restoredTop sz="96374" autoAdjust="0"/>
  </p:normalViewPr>
  <p:slideViewPr>
    <p:cSldViewPr>
      <p:cViewPr varScale="1">
        <p:scale>
          <a:sx n="99" d="100"/>
          <a:sy n="99" d="100"/>
        </p:scale>
        <p:origin x="90" y="24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16872"/>
    </p:cViewPr>
  </p:sorterViewPr>
  <p:notesViewPr>
    <p:cSldViewPr>
      <p:cViewPr varScale="1">
        <p:scale>
          <a:sx n="87" d="100"/>
          <a:sy n="87" d="100"/>
        </p:scale>
        <p:origin x="298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68F4704-224D-BF0C-F730-F5DE3BC63A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5" name="Slide Number Placeholder 4">
            <a:extLst>
              <a:ext uri="{FF2B5EF4-FFF2-40B4-BE49-F238E27FC236}">
                <a16:creationId xmlns:a16="http://schemas.microsoft.com/office/drawing/2014/main" id="{EEBD59D3-C18F-CAA5-E321-0A5F5507F7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80109C-28A8-4C01-A387-0EA5A0BECDA5}" type="slidenum">
              <a:rPr lang="en-US" smtClean="0"/>
              <a:t>‹#›</a:t>
            </a:fld>
            <a:endParaRPr lang="en-US"/>
          </a:p>
        </p:txBody>
      </p:sp>
      <p:sp>
        <p:nvSpPr>
          <p:cNvPr id="6" name="Date Placeholder 5">
            <a:extLst>
              <a:ext uri="{FF2B5EF4-FFF2-40B4-BE49-F238E27FC236}">
                <a16:creationId xmlns:a16="http://schemas.microsoft.com/office/drawing/2014/main" id="{1E8C5FCD-3BF2-FA43-48EA-555725A6733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81ED2C-F299-433F-9FFF-90830007C476}" type="datetimeFigureOut">
              <a:rPr lang="en-US" smtClean="0"/>
              <a:t>4/25/2026</a:t>
            </a:fld>
            <a:endParaRPr lang="en-US"/>
          </a:p>
        </p:txBody>
      </p:sp>
      <p:sp>
        <p:nvSpPr>
          <p:cNvPr id="7" name="Footer Placeholder 6">
            <a:extLst>
              <a:ext uri="{FF2B5EF4-FFF2-40B4-BE49-F238E27FC236}">
                <a16:creationId xmlns:a16="http://schemas.microsoft.com/office/drawing/2014/main" id="{B5192DDA-A76B-7B02-ED41-6A4E0966E3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1854200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2560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2560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60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2560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5E190521-9940-4C2A-A96F-6B5A2EFD8B8C}" type="slidenum">
              <a:rPr lang="en-US"/>
              <a:pPr>
                <a:defRPr/>
              </a:pPr>
              <a:t>‹#›</a:t>
            </a:fld>
            <a:endParaRPr lang="en-US"/>
          </a:p>
        </p:txBody>
      </p:sp>
    </p:spTree>
    <p:extLst>
      <p:ext uri="{BB962C8B-B14F-4D97-AF65-F5344CB8AC3E}">
        <p14:creationId xmlns:p14="http://schemas.microsoft.com/office/powerpoint/2010/main" val="34283345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4E1B2C68-2FEB-47D3-B70B-5DCFF17C0462}" type="slidenum">
              <a:rPr lang="en-US" smtClean="0"/>
              <a:pPr/>
              <a:t>1</a:t>
            </a:fld>
            <a:endParaRPr lang="en-US"/>
          </a:p>
        </p:txBody>
      </p:sp>
      <p:sp>
        <p:nvSpPr>
          <p:cNvPr id="15363" name="Rectangle 2"/>
          <p:cNvSpPr>
            <a:spLocks noGrp="1" noRot="1" noChangeAspect="1" noChangeArrowheads="1" noTextEdit="1"/>
          </p:cNvSpPr>
          <p:nvPr>
            <p:ph type="sldImg"/>
          </p:nvPr>
        </p:nvSpPr>
        <p:spPr>
          <a:xfrm>
            <a:off x="381000" y="685800"/>
            <a:ext cx="6096000" cy="3429000"/>
          </a:xfrm>
          <a:ln/>
        </p:spPr>
      </p:sp>
      <p:sp>
        <p:nvSpPr>
          <p:cNvPr id="153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58744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68DF0-544E-FE49-9199-399EAA0F0D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8AA75B-17A0-6D9F-E6DF-37BF6DDC93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EC10BE95-8FF7-321C-3CB3-B5BCAAEC05CE}"/>
              </a:ext>
            </a:extLst>
          </p:cNvPr>
          <p:cNvSpPr>
            <a:spLocks noGrp="1"/>
          </p:cNvSpPr>
          <p:nvPr>
            <p:ph type="sldNum" sz="quarter" idx="12"/>
          </p:nvPr>
        </p:nvSpPr>
        <p:spPr/>
        <p:txBody>
          <a:bodyPr/>
          <a:lstStyle/>
          <a:p>
            <a:fld id="{30B9F9C1-6AA3-4836-B413-85EA651AECDC}" type="slidenum">
              <a:rPr lang="en-US" smtClean="0"/>
              <a:t>‹#›</a:t>
            </a:fld>
            <a:endParaRPr lang="en-US"/>
          </a:p>
        </p:txBody>
      </p:sp>
    </p:spTree>
    <p:extLst>
      <p:ext uri="{BB962C8B-B14F-4D97-AF65-F5344CB8AC3E}">
        <p14:creationId xmlns:p14="http://schemas.microsoft.com/office/powerpoint/2010/main" val="2566998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68825-90A4-9A52-6D45-9892AB2D16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A0B12B-3611-94BF-8AA6-898C3EE068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9502FE3D-1CFC-EB6F-6CB5-C73D78F691F1}"/>
              </a:ext>
            </a:extLst>
          </p:cNvPr>
          <p:cNvSpPr>
            <a:spLocks noGrp="1"/>
          </p:cNvSpPr>
          <p:nvPr>
            <p:ph type="sldNum" sz="quarter" idx="12"/>
          </p:nvPr>
        </p:nvSpPr>
        <p:spPr/>
        <p:txBody>
          <a:bodyPr/>
          <a:lstStyle/>
          <a:p>
            <a:fld id="{30B9F9C1-6AA3-4836-B413-85EA651AECDC}" type="slidenum">
              <a:rPr lang="en-US" smtClean="0"/>
              <a:t>‹#›</a:t>
            </a:fld>
            <a:endParaRPr lang="en-US"/>
          </a:p>
        </p:txBody>
      </p:sp>
    </p:spTree>
    <p:extLst>
      <p:ext uri="{BB962C8B-B14F-4D97-AF65-F5344CB8AC3E}">
        <p14:creationId xmlns:p14="http://schemas.microsoft.com/office/powerpoint/2010/main" val="4257127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C483F-6B28-E58F-804E-A908118A44B8}"/>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767DF13B-BB58-763C-415D-5BFAE7152FC9}"/>
              </a:ext>
            </a:extLst>
          </p:cNvPr>
          <p:cNvSpPr>
            <a:spLocks noGrp="1"/>
          </p:cNvSpPr>
          <p:nvPr>
            <p:ph type="sldNum" sz="quarter" idx="12"/>
          </p:nvPr>
        </p:nvSpPr>
        <p:spPr/>
        <p:txBody>
          <a:bodyPr/>
          <a:lstStyle/>
          <a:p>
            <a:fld id="{30B9F9C1-6AA3-4836-B413-85EA651AECDC}" type="slidenum">
              <a:rPr lang="en-US" smtClean="0"/>
              <a:t>‹#›</a:t>
            </a:fld>
            <a:endParaRPr lang="en-US"/>
          </a:p>
        </p:txBody>
      </p:sp>
    </p:spTree>
    <p:extLst>
      <p:ext uri="{BB962C8B-B14F-4D97-AF65-F5344CB8AC3E}">
        <p14:creationId xmlns:p14="http://schemas.microsoft.com/office/powerpoint/2010/main" val="4062110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D8A4F1-3C1E-35F0-083E-5EF73E656225}"/>
              </a:ext>
            </a:extLst>
          </p:cNvPr>
          <p:cNvSpPr>
            <a:spLocks noGrp="1"/>
          </p:cNvSpPr>
          <p:nvPr>
            <p:ph type="sldNum" sz="quarter" idx="12"/>
          </p:nvPr>
        </p:nvSpPr>
        <p:spPr/>
        <p:txBody>
          <a:bodyPr/>
          <a:lstStyle/>
          <a:p>
            <a:fld id="{30B9F9C1-6AA3-4836-B413-85EA651AECDC}" type="slidenum">
              <a:rPr lang="en-US" smtClean="0"/>
              <a:t>‹#›</a:t>
            </a:fld>
            <a:endParaRPr lang="en-US"/>
          </a:p>
        </p:txBody>
      </p:sp>
    </p:spTree>
    <p:extLst>
      <p:ext uri="{BB962C8B-B14F-4D97-AF65-F5344CB8AC3E}">
        <p14:creationId xmlns:p14="http://schemas.microsoft.com/office/powerpoint/2010/main" val="1779982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34F77-46A6-57B6-3317-BAC8360E42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4D239D-2D87-EF51-CA68-2B6DFA1A56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4B2367-0A6B-F24B-7DC4-D4497327D3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1C9751-851E-3246-CAB6-EEC89FC8408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54F8A54-D24F-39B0-6D14-02C30DCBD9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22F1FE-BBF5-E18E-D83C-24FC56B2BA0B}"/>
              </a:ext>
            </a:extLst>
          </p:cNvPr>
          <p:cNvSpPr>
            <a:spLocks noGrp="1"/>
          </p:cNvSpPr>
          <p:nvPr>
            <p:ph type="sldNum" sz="quarter" idx="12"/>
          </p:nvPr>
        </p:nvSpPr>
        <p:spPr/>
        <p:txBody>
          <a:bodyPr/>
          <a:lstStyle/>
          <a:p>
            <a:fld id="{30B9F9C1-6AA3-4836-B413-85EA651AECDC}" type="slidenum">
              <a:rPr lang="en-US" smtClean="0"/>
              <a:t>‹#›</a:t>
            </a:fld>
            <a:endParaRPr lang="en-US"/>
          </a:p>
        </p:txBody>
      </p:sp>
    </p:spTree>
    <p:extLst>
      <p:ext uri="{BB962C8B-B14F-4D97-AF65-F5344CB8AC3E}">
        <p14:creationId xmlns:p14="http://schemas.microsoft.com/office/powerpoint/2010/main" val="11334229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5">
            <a:extLst>
              <a:ext uri="{FF2B5EF4-FFF2-40B4-BE49-F238E27FC236}">
                <a16:creationId xmlns:a16="http://schemas.microsoft.com/office/drawing/2014/main" id="{54615902-F3E5-237D-723E-8FF89C86E4DC}"/>
              </a:ext>
            </a:extLst>
          </p:cNvPr>
          <p:cNvSpPr txBox="1">
            <a:spLocks noChangeArrowheads="1"/>
          </p:cNvSpPr>
          <p:nvPr/>
        </p:nvSpPr>
        <p:spPr bwMode="auto">
          <a:xfrm rot="16200000">
            <a:off x="-3136288" y="3139464"/>
            <a:ext cx="6821217" cy="548640"/>
          </a:xfrm>
          <a:prstGeom prst="rect">
            <a:avLst/>
          </a:prstGeom>
          <a:solidFill>
            <a:srgbClr val="F5750B"/>
          </a:solidFill>
          <a:ln w="9525">
            <a:noFill/>
            <a:miter lim="800000"/>
            <a:headEnd/>
            <a:tailEnd/>
          </a:ln>
          <a:effectLst/>
          <a:scene3d>
            <a:camera prst="orthographicFront">
              <a:rot lat="0" lon="0" rev="0"/>
            </a:camera>
            <a:lightRig rig="balanced" dir="t">
              <a:rot lat="0" lon="0" rev="8700000"/>
            </a:lightRig>
          </a:scene3d>
          <a:sp3d prstMaterial="plastic"/>
        </p:spPr>
        <p:txBody>
          <a:bodyPr anchor="ctr" anchorCtr="1"/>
          <a:lstStyle/>
          <a:p>
            <a:pPr algn="ctr" eaLnBrk="1" fontAlgn="auto" hangingPunct="1">
              <a:spcBef>
                <a:spcPts val="0"/>
              </a:spcBef>
              <a:spcAft>
                <a:spcPts val="0"/>
              </a:spcAft>
              <a:defRPr/>
            </a:pPr>
            <a:r>
              <a:rPr lang="en-US" sz="1800" b="1" dirty="0">
                <a:solidFill>
                  <a:schemeClr val="tx1"/>
                </a:solidFill>
                <a:latin typeface="Arial" panose="020B0604020202020204" pitchFamily="34" charset="0"/>
                <a:cs typeface="Arial" panose="020B0604020202020204" pitchFamily="34" charset="0"/>
              </a:rPr>
              <a:t>Auburn Aerospace</a:t>
            </a:r>
          </a:p>
        </p:txBody>
      </p:sp>
      <p:sp>
        <p:nvSpPr>
          <p:cNvPr id="9" name="Rectangle 8">
            <a:extLst>
              <a:ext uri="{FF2B5EF4-FFF2-40B4-BE49-F238E27FC236}">
                <a16:creationId xmlns:a16="http://schemas.microsoft.com/office/drawing/2014/main" id="{21F23E6E-C89B-60D0-D4F1-2889808C53E6}"/>
              </a:ext>
            </a:extLst>
          </p:cNvPr>
          <p:cNvSpPr/>
          <p:nvPr/>
        </p:nvSpPr>
        <p:spPr>
          <a:xfrm>
            <a:off x="0" y="6477000"/>
            <a:ext cx="12192000" cy="381000"/>
          </a:xfrm>
          <a:prstGeom prst="rect">
            <a:avLst/>
          </a:prstGeom>
          <a:gradFill flip="none" rotWithShape="1">
            <a:gsLst>
              <a:gs pos="0">
                <a:sysClr val="window" lastClr="FFFFFF">
                  <a:alpha val="88000"/>
                </a:sysClr>
              </a:gs>
              <a:gs pos="99000">
                <a:srgbClr val="4472C4">
                  <a:lumMod val="75000"/>
                </a:srgbClr>
              </a:gs>
            </a:gsLst>
            <a:path path="circle">
              <a:fillToRect l="50000" t="50000" r="50000" b="50000"/>
            </a:path>
            <a:tileRect/>
          </a:gradFill>
          <a:ln w="12700" cap="flat" cmpd="sng" algn="ctr">
            <a:noFill/>
            <a:prstDash val="solid"/>
            <a:miter lim="800000"/>
          </a:ln>
          <a:effectLst/>
        </p:spPr>
        <p:txBody>
          <a:bodyPr rtlCol="0" anchor="ctr"/>
          <a:lstStyle/>
          <a:p>
            <a:pPr marL="0" marR="0" lvl="0" indent="0" algn="l" defTabSz="914377" eaLnBrk="1" fontAlgn="auto" latinLnBrk="0" hangingPunct="1">
              <a:lnSpc>
                <a:spcPct val="100000"/>
              </a:lnSpc>
              <a:spcBef>
                <a:spcPts val="0"/>
              </a:spcBef>
              <a:spcAft>
                <a:spcPts val="0"/>
              </a:spcAft>
              <a:buClrTx/>
              <a:buSzTx/>
              <a:buFontTx/>
              <a:buNone/>
              <a:tabLst/>
              <a:defRPr/>
            </a:pPr>
            <a:endParaRPr kumimoji="0" lang="en-US" sz="1800" b="1" i="1"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endParaRPr>
          </a:p>
        </p:txBody>
      </p:sp>
      <p:sp>
        <p:nvSpPr>
          <p:cNvPr id="2" name="Title Placeholder 1">
            <a:extLst>
              <a:ext uri="{FF2B5EF4-FFF2-40B4-BE49-F238E27FC236}">
                <a16:creationId xmlns:a16="http://schemas.microsoft.com/office/drawing/2014/main" id="{6261D85D-9987-2919-41BA-636EF898A1A0}"/>
              </a:ext>
            </a:extLst>
          </p:cNvPr>
          <p:cNvSpPr>
            <a:spLocks noGrp="1"/>
          </p:cNvSpPr>
          <p:nvPr>
            <p:ph type="title"/>
          </p:nvPr>
        </p:nvSpPr>
        <p:spPr>
          <a:xfrm>
            <a:off x="628951" y="184150"/>
            <a:ext cx="11353497" cy="37674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AFBC36A-5409-B7D9-CA72-D9737608EF5A}"/>
              </a:ext>
            </a:extLst>
          </p:cNvPr>
          <p:cNvSpPr>
            <a:spLocks noGrp="1"/>
          </p:cNvSpPr>
          <p:nvPr>
            <p:ph type="body" idx="1"/>
          </p:nvPr>
        </p:nvSpPr>
        <p:spPr>
          <a:xfrm>
            <a:off x="628952" y="749994"/>
            <a:ext cx="11353498" cy="56933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3AE84657-B2C7-3372-7BC2-5ADEB333CBEF}"/>
              </a:ext>
            </a:extLst>
          </p:cNvPr>
          <p:cNvSpPr>
            <a:spLocks noGrp="1"/>
          </p:cNvSpPr>
          <p:nvPr>
            <p:ph type="sldNum" sz="quarter" idx="4"/>
          </p:nvPr>
        </p:nvSpPr>
        <p:spPr>
          <a:xfrm>
            <a:off x="11706943" y="6449742"/>
            <a:ext cx="441543" cy="365125"/>
          </a:xfrm>
          <a:prstGeom prst="rect">
            <a:avLst/>
          </a:prstGeom>
        </p:spPr>
        <p:txBody>
          <a:bodyPr vert="horz" lIns="91440" tIns="45720" rIns="91440" bIns="45720" rtlCol="0" anchor="ctr"/>
          <a:lstStyle>
            <a:lvl1pPr algn="r">
              <a:defRPr sz="1600" b="1">
                <a:solidFill>
                  <a:schemeClr val="tx1"/>
                </a:solidFill>
              </a:defRPr>
            </a:lvl1pPr>
          </a:lstStyle>
          <a:p>
            <a:fld id="{9B325980-D574-48EE-A4F3-82B664B49370}" type="slidenum">
              <a:rPr lang="en-US" smtClean="0"/>
              <a:pPr/>
              <a:t>‹#›</a:t>
            </a:fld>
            <a:endParaRPr lang="en-US" dirty="0"/>
          </a:p>
        </p:txBody>
      </p:sp>
      <p:sp>
        <p:nvSpPr>
          <p:cNvPr id="11" name="Rectangle 10">
            <a:extLst>
              <a:ext uri="{FF2B5EF4-FFF2-40B4-BE49-F238E27FC236}">
                <a16:creationId xmlns:a16="http://schemas.microsoft.com/office/drawing/2014/main" id="{9FA81FA6-0B5F-A0C8-B333-D02978C44902}"/>
              </a:ext>
            </a:extLst>
          </p:cNvPr>
          <p:cNvSpPr/>
          <p:nvPr/>
        </p:nvSpPr>
        <p:spPr>
          <a:xfrm>
            <a:off x="628952" y="629854"/>
            <a:ext cx="11471909" cy="5118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2497077"/>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Lst>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image" Target="../media/image5.png"/><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s>
</file>

<file path=ppt/slides/_rels/slide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209800" y="1143000"/>
            <a:ext cx="7772400" cy="1470025"/>
          </a:xfrm>
        </p:spPr>
        <p:txBody>
          <a:bodyPr>
            <a:normAutofit/>
          </a:bodyPr>
          <a:lstStyle/>
          <a:p>
            <a:pPr eaLnBrk="1" hangingPunct="1">
              <a:defRPr/>
            </a:pPr>
            <a:r>
              <a:rPr lang="en-US" dirty="0"/>
              <a:t>Spring 2026 Final</a:t>
            </a:r>
          </a:p>
        </p:txBody>
      </p:sp>
      <p:sp>
        <p:nvSpPr>
          <p:cNvPr id="3" name="Subtitle 2">
            <a:extLst>
              <a:ext uri="{FF2B5EF4-FFF2-40B4-BE49-F238E27FC236}">
                <a16:creationId xmlns:a16="http://schemas.microsoft.com/office/drawing/2014/main" id="{A234B7A5-E63B-0E05-7BE4-56E868C03594}"/>
              </a:ext>
            </a:extLst>
          </p:cNvPr>
          <p:cNvSpPr>
            <a:spLocks noGrp="1"/>
          </p:cNvSpPr>
          <p:nvPr>
            <p:ph type="subTitle" idx="1"/>
          </p:nvPr>
        </p:nvSpPr>
        <p:spPr/>
        <p:txBody>
          <a:bodyPr/>
          <a:lstStyle/>
          <a:p>
            <a:r>
              <a:rPr lang="en-US" dirty="0"/>
              <a:t>AERO 4720 Aircraft Design II</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CC04-D424-6E04-3C47-17924681EB42}"/>
              </a:ext>
            </a:extLst>
          </p:cNvPr>
          <p:cNvSpPr>
            <a:spLocks noGrp="1"/>
          </p:cNvSpPr>
          <p:nvPr>
            <p:ph type="title"/>
          </p:nvPr>
        </p:nvSpPr>
        <p:spPr/>
        <p:txBody>
          <a:bodyPr>
            <a:normAutofit fontScale="90000"/>
          </a:bodyPr>
          <a:lstStyle/>
          <a:p>
            <a:r>
              <a:rPr lang="en-US" dirty="0"/>
              <a:t>Design, Build, Fly (DBF) Lap Performance Analysis</a:t>
            </a:r>
          </a:p>
        </p:txBody>
      </p:sp>
      <p:sp>
        <p:nvSpPr>
          <p:cNvPr id="50" name="Content Placeholder 49">
            <a:extLst>
              <a:ext uri="{FF2B5EF4-FFF2-40B4-BE49-F238E27FC236}">
                <a16:creationId xmlns:a16="http://schemas.microsoft.com/office/drawing/2014/main" id="{361B0E37-6404-170C-47A4-792CE3554853}"/>
              </a:ext>
            </a:extLst>
          </p:cNvPr>
          <p:cNvSpPr>
            <a:spLocks noGrp="1"/>
          </p:cNvSpPr>
          <p:nvPr>
            <p:ph idx="1"/>
          </p:nvPr>
        </p:nvSpPr>
        <p:spPr/>
        <p:txBody>
          <a:bodyPr>
            <a:normAutofit/>
          </a:bodyPr>
          <a:lstStyle/>
          <a:p>
            <a:r>
              <a:rPr lang="en-US" dirty="0"/>
              <a:t>You will analyze the performance of a R/C aircraft over the course</a:t>
            </a:r>
            <a:br>
              <a:rPr lang="en-US" dirty="0"/>
            </a:br>
            <a:r>
              <a:rPr lang="en-US" dirty="0"/>
              <a:t>of one lap at the Design, Build, Fly (DBF) Competition</a:t>
            </a:r>
          </a:p>
          <a:p>
            <a:endParaRPr lang="en-US" dirty="0"/>
          </a:p>
          <a:p>
            <a:r>
              <a:rPr lang="en-US" dirty="0"/>
              <a:t>The lap is assumed to begin with the aircraft at the start/finish line</a:t>
            </a:r>
            <a:br>
              <a:rPr lang="en-US" dirty="0"/>
            </a:br>
            <a:r>
              <a:rPr lang="en-US" dirty="0"/>
              <a:t>at a known state (airspeed, altitude, battery charge, etc.)</a:t>
            </a:r>
          </a:p>
          <a:p>
            <a:endParaRPr lang="en-US" dirty="0"/>
          </a:p>
          <a:p>
            <a:r>
              <a:rPr lang="en-US" dirty="0"/>
              <a:t>The segments are </a:t>
            </a:r>
            <a:r>
              <a:rPr lang="en-US" b="1" dirty="0"/>
              <a:t>S1</a:t>
            </a:r>
            <a:r>
              <a:rPr lang="en-US" dirty="0"/>
              <a:t> (straight-line), </a:t>
            </a:r>
            <a:r>
              <a:rPr lang="en-US" b="1" dirty="0"/>
              <a:t>C1</a:t>
            </a:r>
            <a:r>
              <a:rPr lang="en-US" dirty="0"/>
              <a:t> (180 deg right turn),</a:t>
            </a:r>
            <a:br>
              <a:rPr lang="en-US" dirty="0"/>
            </a:br>
            <a:r>
              <a:rPr lang="en-US" b="1" dirty="0"/>
              <a:t>S2</a:t>
            </a:r>
            <a:r>
              <a:rPr lang="en-US" dirty="0"/>
              <a:t> (straight-line), </a:t>
            </a:r>
            <a:r>
              <a:rPr lang="en-US" b="1" dirty="0"/>
              <a:t>C2</a:t>
            </a:r>
            <a:r>
              <a:rPr lang="en-US" dirty="0"/>
              <a:t> (360 deg left turn), </a:t>
            </a:r>
            <a:r>
              <a:rPr lang="en-US" b="1" dirty="0"/>
              <a:t>S3</a:t>
            </a:r>
            <a:r>
              <a:rPr lang="en-US" dirty="0"/>
              <a:t> (straight-line),</a:t>
            </a:r>
            <a:br>
              <a:rPr lang="en-US" dirty="0"/>
            </a:br>
            <a:r>
              <a:rPr lang="en-US" b="1" dirty="0"/>
              <a:t>C3</a:t>
            </a:r>
            <a:r>
              <a:rPr lang="en-US" dirty="0"/>
              <a:t> (180 deg right turn), </a:t>
            </a:r>
            <a:r>
              <a:rPr lang="en-US" b="1" dirty="0"/>
              <a:t>S4</a:t>
            </a:r>
            <a:r>
              <a:rPr lang="en-US" dirty="0"/>
              <a:t> (straight-line to finish line)	</a:t>
            </a:r>
          </a:p>
          <a:p>
            <a:endParaRPr lang="en-US" dirty="0"/>
          </a:p>
          <a:p>
            <a:r>
              <a:rPr lang="en-US" dirty="0"/>
              <a:t>The distance [S1+S4] = [S2+S3] = 300 m is fixed. But distances</a:t>
            </a:r>
            <a:br>
              <a:rPr lang="en-US" dirty="0"/>
            </a:br>
            <a:r>
              <a:rPr lang="en-US" dirty="0"/>
              <a:t>covered in turns C1, C2, and C3 are not regulated</a:t>
            </a:r>
          </a:p>
          <a:p>
            <a:endParaRPr lang="en-US" dirty="0"/>
          </a:p>
          <a:p>
            <a:r>
              <a:rPr lang="en-US" dirty="0"/>
              <a:t>You’re analyzing a speed run, where you want to </a:t>
            </a:r>
            <a:r>
              <a:rPr lang="en-US" b="1" u="sng" dirty="0"/>
              <a:t>minimize lap time</a:t>
            </a:r>
            <a:endParaRPr lang="en-US" dirty="0"/>
          </a:p>
          <a:p>
            <a:pPr lvl="1"/>
            <a:r>
              <a:rPr lang="en-US" dirty="0"/>
              <a:t>That means maintaining a high average speed throughout</a:t>
            </a:r>
          </a:p>
          <a:p>
            <a:pPr lvl="1"/>
            <a:r>
              <a:rPr lang="en-US" dirty="0"/>
              <a:t>In general, you want to turn tight to reduce distance C1 + C2 + C3</a:t>
            </a:r>
          </a:p>
          <a:p>
            <a:pPr lvl="1"/>
            <a:r>
              <a:rPr lang="en-US" dirty="0"/>
              <a:t>But be careful not to lose too much airspeed and stall in the turns!</a:t>
            </a:r>
          </a:p>
          <a:p>
            <a:endParaRPr lang="en-US" dirty="0"/>
          </a:p>
        </p:txBody>
      </p:sp>
      <p:sp>
        <p:nvSpPr>
          <p:cNvPr id="4" name="Slide Number Placeholder 3">
            <a:extLst>
              <a:ext uri="{FF2B5EF4-FFF2-40B4-BE49-F238E27FC236}">
                <a16:creationId xmlns:a16="http://schemas.microsoft.com/office/drawing/2014/main" id="{EEFD369C-470E-8BDF-0618-10C20A55BE41}"/>
              </a:ext>
            </a:extLst>
          </p:cNvPr>
          <p:cNvSpPr>
            <a:spLocks noGrp="1"/>
          </p:cNvSpPr>
          <p:nvPr>
            <p:ph type="sldNum" sz="quarter" idx="12"/>
          </p:nvPr>
        </p:nvSpPr>
        <p:spPr/>
        <p:txBody>
          <a:bodyPr/>
          <a:lstStyle/>
          <a:p>
            <a:fld id="{30B9F9C1-6AA3-4836-B413-85EA651AECDC}" type="slidenum">
              <a:rPr lang="en-US" smtClean="0"/>
              <a:t>2</a:t>
            </a:fld>
            <a:endParaRPr lang="en-US"/>
          </a:p>
        </p:txBody>
      </p:sp>
      <p:sp>
        <p:nvSpPr>
          <p:cNvPr id="5" name="Arc 4">
            <a:extLst>
              <a:ext uri="{FF2B5EF4-FFF2-40B4-BE49-F238E27FC236}">
                <a16:creationId xmlns:a16="http://schemas.microsoft.com/office/drawing/2014/main" id="{8FEEA144-575B-E62F-8BF5-D98980026B1A}"/>
              </a:ext>
            </a:extLst>
          </p:cNvPr>
          <p:cNvSpPr>
            <a:spLocks noChangeAspect="1"/>
          </p:cNvSpPr>
          <p:nvPr/>
        </p:nvSpPr>
        <p:spPr>
          <a:xfrm>
            <a:off x="8260882" y="1923449"/>
            <a:ext cx="1676400" cy="1676400"/>
          </a:xfrm>
          <a:prstGeom prst="arc">
            <a:avLst>
              <a:gd name="adj1" fmla="val 11012136"/>
              <a:gd name="adj2" fmla="val 0"/>
            </a:avLst>
          </a:prstGeom>
          <a:ln w="25400">
            <a:solidFill>
              <a:srgbClr val="6699FF"/>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EE0EBB98-C151-3AFA-3766-D0E7E2693755}"/>
              </a:ext>
            </a:extLst>
          </p:cNvPr>
          <p:cNvCxnSpPr>
            <a:cxnSpLocks/>
          </p:cNvCxnSpPr>
          <p:nvPr/>
        </p:nvCxnSpPr>
        <p:spPr>
          <a:xfrm flipV="1">
            <a:off x="8260882" y="2738388"/>
            <a:ext cx="0" cy="1400474"/>
          </a:xfrm>
          <a:prstGeom prst="line">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CDDA23E-0C18-7AB4-DFC3-FEC6338F50D2}"/>
              </a:ext>
            </a:extLst>
          </p:cNvPr>
          <p:cNvCxnSpPr>
            <a:cxnSpLocks/>
          </p:cNvCxnSpPr>
          <p:nvPr/>
        </p:nvCxnSpPr>
        <p:spPr>
          <a:xfrm>
            <a:off x="9937282" y="4119613"/>
            <a:ext cx="0" cy="1371600"/>
          </a:xfrm>
          <a:prstGeom prst="line">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1" name="Arc 10">
            <a:extLst>
              <a:ext uri="{FF2B5EF4-FFF2-40B4-BE49-F238E27FC236}">
                <a16:creationId xmlns:a16="http://schemas.microsoft.com/office/drawing/2014/main" id="{A67DFBB4-6F77-C83D-847F-85E68BA393BB}"/>
              </a:ext>
            </a:extLst>
          </p:cNvPr>
          <p:cNvSpPr>
            <a:spLocks noChangeAspect="1"/>
          </p:cNvSpPr>
          <p:nvPr/>
        </p:nvSpPr>
        <p:spPr>
          <a:xfrm rot="10800000">
            <a:off x="8260882" y="4648200"/>
            <a:ext cx="1676400" cy="1676400"/>
          </a:xfrm>
          <a:prstGeom prst="arc">
            <a:avLst>
              <a:gd name="adj1" fmla="val 11012136"/>
              <a:gd name="adj2" fmla="val 0"/>
            </a:avLst>
          </a:prstGeom>
          <a:ln w="25400">
            <a:solidFill>
              <a:srgbClr val="6699FF"/>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A94B3381-7E68-6CB3-19F3-A4BC1D0A8051}"/>
              </a:ext>
            </a:extLst>
          </p:cNvPr>
          <p:cNvSpPr>
            <a:spLocks noChangeAspect="1"/>
          </p:cNvSpPr>
          <p:nvPr/>
        </p:nvSpPr>
        <p:spPr>
          <a:xfrm rot="10800000">
            <a:off x="9961345" y="3727383"/>
            <a:ext cx="822960" cy="822960"/>
          </a:xfrm>
          <a:prstGeom prst="arc">
            <a:avLst>
              <a:gd name="adj1" fmla="val 5077757"/>
              <a:gd name="adj2" fmla="val 16825064"/>
            </a:avLst>
          </a:prstGeom>
          <a:ln w="25400">
            <a:solidFill>
              <a:srgbClr val="FF0000"/>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06C96881-4236-031B-BE81-5EF62CE0939C}"/>
              </a:ext>
            </a:extLst>
          </p:cNvPr>
          <p:cNvSpPr>
            <a:spLocks noChangeAspect="1"/>
          </p:cNvSpPr>
          <p:nvPr/>
        </p:nvSpPr>
        <p:spPr>
          <a:xfrm>
            <a:off x="9964555" y="3731113"/>
            <a:ext cx="822960" cy="822960"/>
          </a:xfrm>
          <a:prstGeom prst="arc">
            <a:avLst>
              <a:gd name="adj1" fmla="val 6103879"/>
              <a:gd name="adj2" fmla="val 15681428"/>
            </a:avLst>
          </a:prstGeom>
          <a:ln w="25400">
            <a:solidFill>
              <a:srgbClr val="FF0000"/>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FB4A62B3-31A7-BCE9-F313-9FA16222A3DF}"/>
              </a:ext>
            </a:extLst>
          </p:cNvPr>
          <p:cNvCxnSpPr>
            <a:cxnSpLocks/>
          </p:cNvCxnSpPr>
          <p:nvPr/>
        </p:nvCxnSpPr>
        <p:spPr>
          <a:xfrm>
            <a:off x="7879881" y="4165452"/>
            <a:ext cx="762001" cy="0"/>
          </a:xfrm>
          <a:prstGeom prst="line">
            <a:avLst/>
          </a:prstGeom>
          <a:ln w="22225">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753AFA7-FAB2-0B37-D2F5-6F9C54374226}"/>
              </a:ext>
            </a:extLst>
          </p:cNvPr>
          <p:cNvCxnSpPr>
            <a:cxnSpLocks/>
          </p:cNvCxnSpPr>
          <p:nvPr/>
        </p:nvCxnSpPr>
        <p:spPr>
          <a:xfrm rot="10800000" flipV="1">
            <a:off x="9937282" y="2824213"/>
            <a:ext cx="0" cy="1341239"/>
          </a:xfrm>
          <a:prstGeom prst="line">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226A096-F264-21E3-5E88-C96CED2FB85A}"/>
              </a:ext>
            </a:extLst>
          </p:cNvPr>
          <p:cNvCxnSpPr>
            <a:cxnSpLocks/>
          </p:cNvCxnSpPr>
          <p:nvPr/>
        </p:nvCxnSpPr>
        <p:spPr>
          <a:xfrm>
            <a:off x="8260881" y="2752305"/>
            <a:ext cx="3401144"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C86E04C-D7E2-7AA5-42FE-FBBF67F41155}"/>
              </a:ext>
            </a:extLst>
          </p:cNvPr>
          <p:cNvCxnSpPr>
            <a:cxnSpLocks/>
          </p:cNvCxnSpPr>
          <p:nvPr/>
        </p:nvCxnSpPr>
        <p:spPr>
          <a:xfrm>
            <a:off x="8255960" y="5510463"/>
            <a:ext cx="3401144"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57EF453-78A5-C272-7D4A-DF8D3B5DCCA8}"/>
              </a:ext>
            </a:extLst>
          </p:cNvPr>
          <p:cNvCxnSpPr/>
          <p:nvPr/>
        </p:nvCxnSpPr>
        <p:spPr>
          <a:xfrm>
            <a:off x="11308882" y="2752305"/>
            <a:ext cx="0" cy="2738908"/>
          </a:xfrm>
          <a:prstGeom prst="straightConnector1">
            <a:avLst/>
          </a:prstGeom>
          <a:ln w="19050">
            <a:solidFill>
              <a:schemeClr val="bg1">
                <a:lumMod val="75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69AD3DE-0D6E-675A-B23C-5F5E52ECB79F}"/>
              </a:ext>
            </a:extLst>
          </p:cNvPr>
          <p:cNvSpPr txBox="1"/>
          <p:nvPr/>
        </p:nvSpPr>
        <p:spPr>
          <a:xfrm>
            <a:off x="11308882" y="3920384"/>
            <a:ext cx="914400" cy="369332"/>
          </a:xfrm>
          <a:prstGeom prst="rect">
            <a:avLst/>
          </a:prstGeom>
          <a:noFill/>
        </p:spPr>
        <p:txBody>
          <a:bodyPr wrap="square" rtlCol="0">
            <a:spAutoFit/>
          </a:bodyPr>
          <a:lstStyle/>
          <a:p>
            <a:r>
              <a:rPr lang="en-US" b="1" dirty="0"/>
              <a:t>300 m</a:t>
            </a:r>
          </a:p>
        </p:txBody>
      </p:sp>
      <p:grpSp>
        <p:nvGrpSpPr>
          <p:cNvPr id="34" name="Group 33">
            <a:extLst>
              <a:ext uri="{FF2B5EF4-FFF2-40B4-BE49-F238E27FC236}">
                <a16:creationId xmlns:a16="http://schemas.microsoft.com/office/drawing/2014/main" id="{18537787-9118-861F-2ABB-41BB225317FC}"/>
              </a:ext>
            </a:extLst>
          </p:cNvPr>
          <p:cNvGrpSpPr/>
          <p:nvPr/>
        </p:nvGrpSpPr>
        <p:grpSpPr>
          <a:xfrm>
            <a:off x="9419377" y="823763"/>
            <a:ext cx="2729109" cy="1434846"/>
            <a:chOff x="3705873" y="2796478"/>
            <a:chExt cx="2729109" cy="1434846"/>
          </a:xfrm>
        </p:grpSpPr>
        <p:sp>
          <p:nvSpPr>
            <p:cNvPr id="29" name="Arrow: Quad 28">
              <a:extLst>
                <a:ext uri="{FF2B5EF4-FFF2-40B4-BE49-F238E27FC236}">
                  <a16:creationId xmlns:a16="http://schemas.microsoft.com/office/drawing/2014/main" id="{66DFED39-2596-E7C6-DF67-2F07EFD4B877}"/>
                </a:ext>
              </a:extLst>
            </p:cNvPr>
            <p:cNvSpPr>
              <a:spLocks noChangeAspect="1"/>
            </p:cNvSpPr>
            <p:nvPr/>
          </p:nvSpPr>
          <p:spPr>
            <a:xfrm>
              <a:off x="4728585" y="3131667"/>
              <a:ext cx="787613" cy="787613"/>
            </a:xfrm>
            <a:prstGeom prst="quadArrow">
              <a:avLst>
                <a:gd name="adj1" fmla="val 9868"/>
                <a:gd name="adj2" fmla="val 9167"/>
                <a:gd name="adj3" fmla="val 225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7B2D8328-0424-E965-83A7-40772531F9CB}"/>
                    </a:ext>
                  </a:extLst>
                </p:cNvPr>
                <p:cNvSpPr txBox="1"/>
                <p:nvPr/>
              </p:nvSpPr>
              <p:spPr>
                <a:xfrm>
                  <a:off x="4957156" y="2796478"/>
                  <a:ext cx="1022967" cy="369332"/>
                </a:xfrm>
                <a:prstGeom prst="rect">
                  <a:avLst/>
                </a:prstGeom>
                <a:noFill/>
              </p:spPr>
              <p:txBody>
                <a:bodyPr wrap="square" rtlCol="0">
                  <a:spAutoFit/>
                </a:bodyPr>
                <a:lstStyle/>
                <a:p>
                  <a:r>
                    <a:rPr lang="en-US" b="1" dirty="0"/>
                    <a:t>N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𝟑𝟔</m:t>
                          </m:r>
                          <m:r>
                            <a:rPr lang="en-US" b="1" i="1" smtClean="0">
                              <a:latin typeface="Cambria Math" panose="02040503050406030204" pitchFamily="18" charset="0"/>
                            </a:rPr>
                            <m:t>𝟎</m:t>
                          </m:r>
                        </m:e>
                        <m:sup>
                          <m:r>
                            <a:rPr lang="en-US" b="1" i="1" smtClean="0">
                              <a:latin typeface="Cambria Math" panose="02040503050406030204" pitchFamily="18" charset="0"/>
                            </a:rPr>
                            <m:t>∘</m:t>
                          </m:r>
                        </m:sup>
                      </m:sSup>
                    </m:oMath>
                  </a14:m>
                  <a:r>
                    <a:rPr lang="en-US" b="1" dirty="0"/>
                    <a:t>)</a:t>
                  </a:r>
                </a:p>
              </p:txBody>
            </p:sp>
          </mc:Choice>
          <mc:Fallback>
            <p:sp>
              <p:nvSpPr>
                <p:cNvPr id="30" name="TextBox 29">
                  <a:extLst>
                    <a:ext uri="{FF2B5EF4-FFF2-40B4-BE49-F238E27FC236}">
                      <a16:creationId xmlns:a16="http://schemas.microsoft.com/office/drawing/2014/main" id="{7B2D8328-0424-E965-83A7-40772531F9CB}"/>
                    </a:ext>
                  </a:extLst>
                </p:cNvPr>
                <p:cNvSpPr txBox="1">
                  <a:spLocks noRot="1" noChangeAspect="1" noMove="1" noResize="1" noEditPoints="1" noAdjustHandles="1" noChangeArrowheads="1" noChangeShapeType="1" noTextEdit="1"/>
                </p:cNvSpPr>
                <p:nvPr/>
              </p:nvSpPr>
              <p:spPr>
                <a:xfrm>
                  <a:off x="4957156" y="2796478"/>
                  <a:ext cx="1022967" cy="369332"/>
                </a:xfrm>
                <a:prstGeom prst="rect">
                  <a:avLst/>
                </a:prstGeom>
                <a:blipFill>
                  <a:blip r:embed="rId2"/>
                  <a:stretch>
                    <a:fillRect l="-4762" t="-8197" r="-5357"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B593DECB-F623-B0AD-83B2-46F570E4789A}"/>
                    </a:ext>
                  </a:extLst>
                </p:cNvPr>
                <p:cNvSpPr txBox="1"/>
                <p:nvPr/>
              </p:nvSpPr>
              <p:spPr>
                <a:xfrm>
                  <a:off x="4967665" y="3861992"/>
                  <a:ext cx="1143001" cy="369332"/>
                </a:xfrm>
                <a:prstGeom prst="rect">
                  <a:avLst/>
                </a:prstGeom>
                <a:noFill/>
              </p:spPr>
              <p:txBody>
                <a:bodyPr wrap="square" rtlCol="0">
                  <a:spAutoFit/>
                </a:bodyPr>
                <a:lstStyle/>
                <a:p>
                  <a:r>
                    <a:rPr lang="en-US" b="1" dirty="0"/>
                    <a:t>S (</a:t>
                  </a:r>
                  <a14:m>
                    <m:oMath xmlns:m="http://schemas.openxmlformats.org/officeDocument/2006/math">
                      <m:r>
                        <a:rPr lang="en-US" b="1" i="0" smtClean="0">
                          <a:latin typeface="Cambria Math" panose="02040503050406030204" pitchFamily="18" charset="0"/>
                        </a:rPr>
                        <m:t>𝟏𝟖</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𝟎</m:t>
                          </m:r>
                        </m:e>
                        <m:sup>
                          <m:r>
                            <a:rPr lang="en-US" b="1" i="1" smtClean="0">
                              <a:latin typeface="Cambria Math" panose="02040503050406030204" pitchFamily="18" charset="0"/>
                            </a:rPr>
                            <m:t>∘</m:t>
                          </m:r>
                        </m:sup>
                      </m:sSup>
                    </m:oMath>
                  </a14:m>
                  <a:r>
                    <a:rPr lang="en-US" b="1" dirty="0"/>
                    <a:t>)</a:t>
                  </a:r>
                </a:p>
              </p:txBody>
            </p:sp>
          </mc:Choice>
          <mc:Fallback>
            <p:sp>
              <p:nvSpPr>
                <p:cNvPr id="31" name="TextBox 30">
                  <a:extLst>
                    <a:ext uri="{FF2B5EF4-FFF2-40B4-BE49-F238E27FC236}">
                      <a16:creationId xmlns:a16="http://schemas.microsoft.com/office/drawing/2014/main" id="{B593DECB-F623-B0AD-83B2-46F570E4789A}"/>
                    </a:ext>
                  </a:extLst>
                </p:cNvPr>
                <p:cNvSpPr txBox="1">
                  <a:spLocks noRot="1" noChangeAspect="1" noMove="1" noResize="1" noEditPoints="1" noAdjustHandles="1" noChangeArrowheads="1" noChangeShapeType="1" noTextEdit="1"/>
                </p:cNvSpPr>
                <p:nvPr/>
              </p:nvSpPr>
              <p:spPr>
                <a:xfrm>
                  <a:off x="4967665" y="3861992"/>
                  <a:ext cx="1143001" cy="369332"/>
                </a:xfrm>
                <a:prstGeom prst="rect">
                  <a:avLst/>
                </a:prstGeom>
                <a:blipFill>
                  <a:blip r:embed="rId3"/>
                  <a:stretch>
                    <a:fillRect l="-4255" t="-9836"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925A6DAF-6D6E-D02F-2C95-6A6D0D50AA72}"/>
                    </a:ext>
                  </a:extLst>
                </p:cNvPr>
                <p:cNvSpPr txBox="1"/>
                <p:nvPr/>
              </p:nvSpPr>
              <p:spPr>
                <a:xfrm>
                  <a:off x="5539165" y="3337885"/>
                  <a:ext cx="895817" cy="369332"/>
                </a:xfrm>
                <a:prstGeom prst="rect">
                  <a:avLst/>
                </a:prstGeom>
                <a:noFill/>
              </p:spPr>
              <p:txBody>
                <a:bodyPr wrap="square" rtlCol="0">
                  <a:spAutoFit/>
                </a:bodyPr>
                <a:lstStyle/>
                <a:p>
                  <a:r>
                    <a:rPr lang="en-US" b="1" dirty="0"/>
                    <a:t>E (</a:t>
                  </a:r>
                  <a14:m>
                    <m:oMath xmlns:m="http://schemas.openxmlformats.org/officeDocument/2006/math">
                      <m:r>
                        <a:rPr lang="en-US" b="1" i="0" smtClean="0">
                          <a:latin typeface="Cambria Math" panose="02040503050406030204" pitchFamily="18" charset="0"/>
                        </a:rPr>
                        <m:t>𝟗</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𝟎</m:t>
                          </m:r>
                        </m:e>
                        <m:sup>
                          <m:r>
                            <a:rPr lang="en-US" b="1" i="1" smtClean="0">
                              <a:latin typeface="Cambria Math" panose="02040503050406030204" pitchFamily="18" charset="0"/>
                            </a:rPr>
                            <m:t>∘</m:t>
                          </m:r>
                        </m:sup>
                      </m:sSup>
                    </m:oMath>
                  </a14:m>
                  <a:r>
                    <a:rPr lang="en-US" b="1" dirty="0"/>
                    <a:t>)</a:t>
                  </a:r>
                </a:p>
              </p:txBody>
            </p:sp>
          </mc:Choice>
          <mc:Fallback>
            <p:sp>
              <p:nvSpPr>
                <p:cNvPr id="32" name="TextBox 31">
                  <a:extLst>
                    <a:ext uri="{FF2B5EF4-FFF2-40B4-BE49-F238E27FC236}">
                      <a16:creationId xmlns:a16="http://schemas.microsoft.com/office/drawing/2014/main" id="{925A6DAF-6D6E-D02F-2C95-6A6D0D50AA72}"/>
                    </a:ext>
                  </a:extLst>
                </p:cNvPr>
                <p:cNvSpPr txBox="1">
                  <a:spLocks noRot="1" noChangeAspect="1" noMove="1" noResize="1" noEditPoints="1" noAdjustHandles="1" noChangeArrowheads="1" noChangeShapeType="1" noTextEdit="1"/>
                </p:cNvSpPr>
                <p:nvPr/>
              </p:nvSpPr>
              <p:spPr>
                <a:xfrm>
                  <a:off x="5539165" y="3337885"/>
                  <a:ext cx="895817" cy="369332"/>
                </a:xfrm>
                <a:prstGeom prst="rect">
                  <a:avLst/>
                </a:prstGeom>
                <a:blipFill>
                  <a:blip r:embed="rId4"/>
                  <a:stretch>
                    <a:fillRect l="-6122" t="-9836" r="-680"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EB74A1DE-D490-290A-CAE1-4D6BC68F966B}"/>
                    </a:ext>
                  </a:extLst>
                </p:cNvPr>
                <p:cNvSpPr txBox="1"/>
                <p:nvPr/>
              </p:nvSpPr>
              <p:spPr>
                <a:xfrm>
                  <a:off x="3705873" y="3356555"/>
                  <a:ext cx="1143001" cy="369332"/>
                </a:xfrm>
                <a:prstGeom prst="rect">
                  <a:avLst/>
                </a:prstGeom>
                <a:noFill/>
              </p:spPr>
              <p:txBody>
                <a:bodyPr wrap="square" rtlCol="0">
                  <a:spAutoFit/>
                </a:bodyPr>
                <a:lstStyle/>
                <a:p>
                  <a:r>
                    <a:rPr lang="en-US" b="1" dirty="0"/>
                    <a:t>W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𝟐𝟕𝟎</m:t>
                          </m:r>
                        </m:e>
                        <m:sup>
                          <m:r>
                            <a:rPr lang="en-US" b="1" i="1" smtClean="0">
                              <a:latin typeface="Cambria Math" panose="02040503050406030204" pitchFamily="18" charset="0"/>
                            </a:rPr>
                            <m:t>∘</m:t>
                          </m:r>
                        </m:sup>
                      </m:sSup>
                    </m:oMath>
                  </a14:m>
                  <a:r>
                    <a:rPr lang="en-US" b="1" dirty="0"/>
                    <a:t>)</a:t>
                  </a:r>
                </a:p>
              </p:txBody>
            </p:sp>
          </mc:Choice>
          <mc:Fallback>
            <p:sp>
              <p:nvSpPr>
                <p:cNvPr id="33" name="TextBox 32">
                  <a:extLst>
                    <a:ext uri="{FF2B5EF4-FFF2-40B4-BE49-F238E27FC236}">
                      <a16:creationId xmlns:a16="http://schemas.microsoft.com/office/drawing/2014/main" id="{EB74A1DE-D490-290A-CAE1-4D6BC68F966B}"/>
                    </a:ext>
                  </a:extLst>
                </p:cNvPr>
                <p:cNvSpPr txBox="1">
                  <a:spLocks noRot="1" noChangeAspect="1" noMove="1" noResize="1" noEditPoints="1" noAdjustHandles="1" noChangeArrowheads="1" noChangeShapeType="1" noTextEdit="1"/>
                </p:cNvSpPr>
                <p:nvPr/>
              </p:nvSpPr>
              <p:spPr>
                <a:xfrm>
                  <a:off x="3705873" y="3356555"/>
                  <a:ext cx="1143001" cy="369332"/>
                </a:xfrm>
                <a:prstGeom prst="rect">
                  <a:avLst/>
                </a:prstGeom>
                <a:blipFill>
                  <a:blip r:embed="rId5"/>
                  <a:stretch>
                    <a:fillRect l="-4255" t="-8197" b="-24590"/>
                  </a:stretch>
                </a:blipFill>
              </p:spPr>
              <p:txBody>
                <a:bodyPr/>
                <a:lstStyle/>
                <a:p>
                  <a:r>
                    <a:rPr lang="en-US">
                      <a:noFill/>
                    </a:rPr>
                    <a:t> </a:t>
                  </a:r>
                </a:p>
              </p:txBody>
            </p:sp>
          </mc:Fallback>
        </mc:AlternateContent>
      </p:grpSp>
      <p:cxnSp>
        <p:nvCxnSpPr>
          <p:cNvPr id="38" name="Straight Connector 37">
            <a:extLst>
              <a:ext uri="{FF2B5EF4-FFF2-40B4-BE49-F238E27FC236}">
                <a16:creationId xmlns:a16="http://schemas.microsoft.com/office/drawing/2014/main" id="{19B8D66D-40A7-6224-CA9C-036EE513E171}"/>
              </a:ext>
            </a:extLst>
          </p:cNvPr>
          <p:cNvCxnSpPr>
            <a:cxnSpLocks/>
          </p:cNvCxnSpPr>
          <p:nvPr/>
        </p:nvCxnSpPr>
        <p:spPr>
          <a:xfrm flipV="1">
            <a:off x="8255960" y="4138862"/>
            <a:ext cx="0" cy="1347538"/>
          </a:xfrm>
          <a:prstGeom prst="line">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90B3CE7C-1E5F-D7D6-4582-265D5EED7390}"/>
              </a:ext>
            </a:extLst>
          </p:cNvPr>
          <p:cNvSpPr txBox="1"/>
          <p:nvPr/>
        </p:nvSpPr>
        <p:spPr>
          <a:xfrm>
            <a:off x="7875858" y="3127905"/>
            <a:ext cx="410690" cy="369332"/>
          </a:xfrm>
          <a:prstGeom prst="rect">
            <a:avLst/>
          </a:prstGeom>
          <a:noFill/>
        </p:spPr>
        <p:txBody>
          <a:bodyPr wrap="none" rtlCol="0">
            <a:spAutoFit/>
          </a:bodyPr>
          <a:lstStyle/>
          <a:p>
            <a:r>
              <a:rPr lang="en-US" b="1" dirty="0"/>
              <a:t>S1</a:t>
            </a:r>
          </a:p>
        </p:txBody>
      </p:sp>
      <p:sp>
        <p:nvSpPr>
          <p:cNvPr id="44" name="TextBox 43">
            <a:extLst>
              <a:ext uri="{FF2B5EF4-FFF2-40B4-BE49-F238E27FC236}">
                <a16:creationId xmlns:a16="http://schemas.microsoft.com/office/drawing/2014/main" id="{67FEB99B-A8D1-2AC1-69C4-38A61E4278E4}"/>
              </a:ext>
            </a:extLst>
          </p:cNvPr>
          <p:cNvSpPr txBox="1"/>
          <p:nvPr/>
        </p:nvSpPr>
        <p:spPr>
          <a:xfrm>
            <a:off x="8887325" y="1923449"/>
            <a:ext cx="423514" cy="369332"/>
          </a:xfrm>
          <a:prstGeom prst="rect">
            <a:avLst/>
          </a:prstGeom>
          <a:noFill/>
        </p:spPr>
        <p:txBody>
          <a:bodyPr wrap="none" rtlCol="0">
            <a:spAutoFit/>
          </a:bodyPr>
          <a:lstStyle/>
          <a:p>
            <a:r>
              <a:rPr lang="en-US" b="1" dirty="0"/>
              <a:t>C1</a:t>
            </a:r>
          </a:p>
        </p:txBody>
      </p:sp>
      <p:sp>
        <p:nvSpPr>
          <p:cNvPr id="45" name="TextBox 44">
            <a:extLst>
              <a:ext uri="{FF2B5EF4-FFF2-40B4-BE49-F238E27FC236}">
                <a16:creationId xmlns:a16="http://schemas.microsoft.com/office/drawing/2014/main" id="{6376F006-933F-B445-540C-AC27BB50B5CE}"/>
              </a:ext>
            </a:extLst>
          </p:cNvPr>
          <p:cNvSpPr txBox="1"/>
          <p:nvPr/>
        </p:nvSpPr>
        <p:spPr>
          <a:xfrm>
            <a:off x="9539426" y="3134388"/>
            <a:ext cx="410690" cy="369332"/>
          </a:xfrm>
          <a:prstGeom prst="rect">
            <a:avLst/>
          </a:prstGeom>
          <a:noFill/>
        </p:spPr>
        <p:txBody>
          <a:bodyPr wrap="none" rtlCol="0">
            <a:spAutoFit/>
          </a:bodyPr>
          <a:lstStyle/>
          <a:p>
            <a:r>
              <a:rPr lang="en-US" b="1" dirty="0"/>
              <a:t>S2</a:t>
            </a:r>
          </a:p>
        </p:txBody>
      </p:sp>
      <p:sp>
        <p:nvSpPr>
          <p:cNvPr id="46" name="TextBox 45">
            <a:extLst>
              <a:ext uri="{FF2B5EF4-FFF2-40B4-BE49-F238E27FC236}">
                <a16:creationId xmlns:a16="http://schemas.microsoft.com/office/drawing/2014/main" id="{FA40C9E7-6DF4-F7BC-E677-7ED7A6A15062}"/>
              </a:ext>
            </a:extLst>
          </p:cNvPr>
          <p:cNvSpPr txBox="1"/>
          <p:nvPr/>
        </p:nvSpPr>
        <p:spPr>
          <a:xfrm>
            <a:off x="10167480" y="3964289"/>
            <a:ext cx="423514" cy="369332"/>
          </a:xfrm>
          <a:prstGeom prst="rect">
            <a:avLst/>
          </a:prstGeom>
          <a:noFill/>
        </p:spPr>
        <p:txBody>
          <a:bodyPr wrap="none" rtlCol="0">
            <a:spAutoFit/>
          </a:bodyPr>
          <a:lstStyle/>
          <a:p>
            <a:r>
              <a:rPr lang="en-US" b="1" dirty="0"/>
              <a:t>C2</a:t>
            </a:r>
          </a:p>
        </p:txBody>
      </p:sp>
      <p:sp>
        <p:nvSpPr>
          <p:cNvPr id="47" name="TextBox 46">
            <a:extLst>
              <a:ext uri="{FF2B5EF4-FFF2-40B4-BE49-F238E27FC236}">
                <a16:creationId xmlns:a16="http://schemas.microsoft.com/office/drawing/2014/main" id="{168DFB36-E317-71EF-CF7E-F14C28F7809E}"/>
              </a:ext>
            </a:extLst>
          </p:cNvPr>
          <p:cNvSpPr txBox="1"/>
          <p:nvPr/>
        </p:nvSpPr>
        <p:spPr>
          <a:xfrm>
            <a:off x="9553865" y="4715091"/>
            <a:ext cx="410690" cy="369332"/>
          </a:xfrm>
          <a:prstGeom prst="rect">
            <a:avLst/>
          </a:prstGeom>
          <a:noFill/>
        </p:spPr>
        <p:txBody>
          <a:bodyPr wrap="none" rtlCol="0">
            <a:spAutoFit/>
          </a:bodyPr>
          <a:lstStyle/>
          <a:p>
            <a:r>
              <a:rPr lang="en-US" b="1" dirty="0"/>
              <a:t>S3</a:t>
            </a:r>
          </a:p>
        </p:txBody>
      </p:sp>
      <p:sp>
        <p:nvSpPr>
          <p:cNvPr id="48" name="TextBox 47">
            <a:extLst>
              <a:ext uri="{FF2B5EF4-FFF2-40B4-BE49-F238E27FC236}">
                <a16:creationId xmlns:a16="http://schemas.microsoft.com/office/drawing/2014/main" id="{77A1A8E1-AAAC-7DAB-AC04-E1896AFAF404}"/>
              </a:ext>
            </a:extLst>
          </p:cNvPr>
          <p:cNvSpPr txBox="1"/>
          <p:nvPr/>
        </p:nvSpPr>
        <p:spPr>
          <a:xfrm>
            <a:off x="8887325" y="5974519"/>
            <a:ext cx="423514" cy="369332"/>
          </a:xfrm>
          <a:prstGeom prst="rect">
            <a:avLst/>
          </a:prstGeom>
          <a:noFill/>
        </p:spPr>
        <p:txBody>
          <a:bodyPr wrap="none" rtlCol="0">
            <a:spAutoFit/>
          </a:bodyPr>
          <a:lstStyle/>
          <a:p>
            <a:r>
              <a:rPr lang="en-US" b="1" dirty="0"/>
              <a:t>C3</a:t>
            </a:r>
          </a:p>
        </p:txBody>
      </p:sp>
      <p:sp>
        <p:nvSpPr>
          <p:cNvPr id="49" name="TextBox 48">
            <a:extLst>
              <a:ext uri="{FF2B5EF4-FFF2-40B4-BE49-F238E27FC236}">
                <a16:creationId xmlns:a16="http://schemas.microsoft.com/office/drawing/2014/main" id="{703C7E2D-A254-7B36-F363-7DBA00C2293D}"/>
              </a:ext>
            </a:extLst>
          </p:cNvPr>
          <p:cNvSpPr txBox="1"/>
          <p:nvPr/>
        </p:nvSpPr>
        <p:spPr>
          <a:xfrm>
            <a:off x="7875858" y="4715091"/>
            <a:ext cx="410690" cy="369332"/>
          </a:xfrm>
          <a:prstGeom prst="rect">
            <a:avLst/>
          </a:prstGeom>
          <a:noFill/>
        </p:spPr>
        <p:txBody>
          <a:bodyPr wrap="none" rtlCol="0">
            <a:spAutoFit/>
          </a:bodyPr>
          <a:lstStyle/>
          <a:p>
            <a:r>
              <a:rPr lang="en-US" b="1" dirty="0"/>
              <a:t>S4</a:t>
            </a:r>
          </a:p>
        </p:txBody>
      </p:sp>
      <p:sp>
        <p:nvSpPr>
          <p:cNvPr id="51" name="TextBox 50">
            <a:extLst>
              <a:ext uri="{FF2B5EF4-FFF2-40B4-BE49-F238E27FC236}">
                <a16:creationId xmlns:a16="http://schemas.microsoft.com/office/drawing/2014/main" id="{3726C192-CBF8-31CB-44C5-5B88E4816466}"/>
              </a:ext>
            </a:extLst>
          </p:cNvPr>
          <p:cNvSpPr txBox="1"/>
          <p:nvPr/>
        </p:nvSpPr>
        <p:spPr>
          <a:xfrm>
            <a:off x="8248049" y="3834063"/>
            <a:ext cx="1752599" cy="646331"/>
          </a:xfrm>
          <a:prstGeom prst="rect">
            <a:avLst/>
          </a:prstGeom>
          <a:noFill/>
        </p:spPr>
        <p:txBody>
          <a:bodyPr wrap="square" rtlCol="0">
            <a:spAutoFit/>
          </a:bodyPr>
          <a:lstStyle/>
          <a:p>
            <a:r>
              <a:rPr lang="en-US" b="1" dirty="0"/>
              <a:t>Start/Finish </a:t>
            </a:r>
            <a:br>
              <a:rPr lang="en-US" b="1" dirty="0"/>
            </a:br>
            <a:r>
              <a:rPr lang="en-US" b="1" dirty="0"/>
              <a:t>Line</a:t>
            </a:r>
          </a:p>
        </p:txBody>
      </p:sp>
      <p:sp>
        <p:nvSpPr>
          <p:cNvPr id="52" name="TextBox 51">
            <a:extLst>
              <a:ext uri="{FF2B5EF4-FFF2-40B4-BE49-F238E27FC236}">
                <a16:creationId xmlns:a16="http://schemas.microsoft.com/office/drawing/2014/main" id="{C9997A0A-B488-6C5D-F730-4A6E3D201DE7}"/>
              </a:ext>
            </a:extLst>
          </p:cNvPr>
          <p:cNvSpPr txBox="1"/>
          <p:nvPr/>
        </p:nvSpPr>
        <p:spPr>
          <a:xfrm>
            <a:off x="9810449" y="5642561"/>
            <a:ext cx="1752599" cy="369332"/>
          </a:xfrm>
          <a:prstGeom prst="rect">
            <a:avLst/>
          </a:prstGeom>
          <a:noFill/>
        </p:spPr>
        <p:txBody>
          <a:bodyPr wrap="square" rtlCol="0">
            <a:spAutoFit/>
          </a:bodyPr>
          <a:lstStyle/>
          <a:p>
            <a:pPr algn="ctr"/>
            <a:r>
              <a:rPr lang="en-US" b="1" dirty="0"/>
              <a:t>(not to scale)</a:t>
            </a:r>
          </a:p>
        </p:txBody>
      </p:sp>
    </p:spTree>
    <p:extLst>
      <p:ext uri="{BB962C8B-B14F-4D97-AF65-F5344CB8AC3E}">
        <p14:creationId xmlns:p14="http://schemas.microsoft.com/office/powerpoint/2010/main" val="3926892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C5360-1353-CCE1-8B04-1F0FB37039FF}"/>
              </a:ext>
            </a:extLst>
          </p:cNvPr>
          <p:cNvSpPr>
            <a:spLocks noGrp="1"/>
          </p:cNvSpPr>
          <p:nvPr>
            <p:ph type="title"/>
          </p:nvPr>
        </p:nvSpPr>
        <p:spPr/>
        <p:txBody>
          <a:bodyPr>
            <a:normAutofit fontScale="90000"/>
          </a:bodyPr>
          <a:lstStyle/>
          <a:p>
            <a:r>
              <a:rPr lang="en-US" dirty="0"/>
              <a:t>Kinematics for Straight and Curved Segments</a:t>
            </a:r>
          </a:p>
        </p:txBody>
      </p:sp>
      <p:sp>
        <p:nvSpPr>
          <p:cNvPr id="4" name="Slide Number Placeholder 3">
            <a:extLst>
              <a:ext uri="{FF2B5EF4-FFF2-40B4-BE49-F238E27FC236}">
                <a16:creationId xmlns:a16="http://schemas.microsoft.com/office/drawing/2014/main" id="{B0CF80DB-E5D4-90C3-779E-E8D58297EC89}"/>
              </a:ext>
            </a:extLst>
          </p:cNvPr>
          <p:cNvSpPr>
            <a:spLocks noGrp="1"/>
          </p:cNvSpPr>
          <p:nvPr>
            <p:ph type="sldNum" sz="quarter" idx="12"/>
          </p:nvPr>
        </p:nvSpPr>
        <p:spPr/>
        <p:txBody>
          <a:bodyPr/>
          <a:lstStyle/>
          <a:p>
            <a:fld id="{30B9F9C1-6AA3-4836-B413-85EA651AECDC}" type="slidenum">
              <a:rPr lang="en-US" smtClean="0"/>
              <a:t>3</a:t>
            </a:fld>
            <a:endParaRPr lang="en-US"/>
          </a:p>
        </p:txBody>
      </p:sp>
      <p:cxnSp>
        <p:nvCxnSpPr>
          <p:cNvPr id="6" name="Straight Connector 5">
            <a:extLst>
              <a:ext uri="{FF2B5EF4-FFF2-40B4-BE49-F238E27FC236}">
                <a16:creationId xmlns:a16="http://schemas.microsoft.com/office/drawing/2014/main" id="{6F86FBA0-0DA3-E4E6-9009-E09DF5F3750C}"/>
              </a:ext>
            </a:extLst>
          </p:cNvPr>
          <p:cNvCxnSpPr>
            <a:cxnSpLocks/>
          </p:cNvCxnSpPr>
          <p:nvPr/>
        </p:nvCxnSpPr>
        <p:spPr>
          <a:xfrm>
            <a:off x="1957202" y="1338351"/>
            <a:ext cx="0" cy="2335709"/>
          </a:xfrm>
          <a:prstGeom prst="line">
            <a:avLst/>
          </a:prstGeom>
          <a:ln w="25400">
            <a:solidFill>
              <a:schemeClr val="tx1"/>
            </a:solidFill>
            <a:headEnd type="oval" w="lg" len="lg"/>
            <a:tailEnd type="oval"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8F79B97-0B2B-92C5-8D2B-8678B0939A99}"/>
                  </a:ext>
                </a:extLst>
              </p:cNvPr>
              <p:cNvSpPr txBox="1"/>
              <p:nvPr/>
            </p:nvSpPr>
            <p:spPr>
              <a:xfrm>
                <a:off x="1864068" y="3872982"/>
                <a:ext cx="18626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𝑘</m:t>
                      </m:r>
                    </m:oMath>
                  </m:oMathPara>
                </a14:m>
                <a:endParaRPr lang="en-US" dirty="0"/>
              </a:p>
            </p:txBody>
          </p:sp>
        </mc:Choice>
        <mc:Fallback>
          <p:sp>
            <p:nvSpPr>
              <p:cNvPr id="7" name="TextBox 6">
                <a:extLst>
                  <a:ext uri="{FF2B5EF4-FFF2-40B4-BE49-F238E27FC236}">
                    <a16:creationId xmlns:a16="http://schemas.microsoft.com/office/drawing/2014/main" id="{68F79B97-0B2B-92C5-8D2B-8678B0939A99}"/>
                  </a:ext>
                </a:extLst>
              </p:cNvPr>
              <p:cNvSpPr txBox="1">
                <a:spLocks noRot="1" noChangeAspect="1" noMove="1" noResize="1" noEditPoints="1" noAdjustHandles="1" noChangeArrowheads="1" noChangeShapeType="1" noTextEdit="1"/>
              </p:cNvSpPr>
              <p:nvPr/>
            </p:nvSpPr>
            <p:spPr>
              <a:xfrm>
                <a:off x="1864068" y="3872982"/>
                <a:ext cx="186268" cy="276999"/>
              </a:xfrm>
              <a:prstGeom prst="rect">
                <a:avLst/>
              </a:prstGeom>
              <a:blipFill>
                <a:blip r:embed="rId2"/>
                <a:stretch>
                  <a:fillRect l="-33333" r="-30000" b="-65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35319C1A-7F36-D7DB-B225-8C16930C56DC}"/>
                  </a:ext>
                </a:extLst>
              </p:cNvPr>
              <p:cNvSpPr txBox="1"/>
              <p:nvPr/>
            </p:nvSpPr>
            <p:spPr>
              <a:xfrm>
                <a:off x="1705644" y="865985"/>
                <a:ext cx="590226"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m:oMathPara>
                </a14:m>
                <a:endParaRPr lang="en-US" dirty="0"/>
              </a:p>
            </p:txBody>
          </p:sp>
        </mc:Choice>
        <mc:Fallback>
          <p:sp>
            <p:nvSpPr>
              <p:cNvPr id="8" name="TextBox 7">
                <a:extLst>
                  <a:ext uri="{FF2B5EF4-FFF2-40B4-BE49-F238E27FC236}">
                    <a16:creationId xmlns:a16="http://schemas.microsoft.com/office/drawing/2014/main" id="{35319C1A-7F36-D7DB-B225-8C16930C56DC}"/>
                  </a:ext>
                </a:extLst>
              </p:cNvPr>
              <p:cNvSpPr txBox="1">
                <a:spLocks noRot="1" noChangeAspect="1" noMove="1" noResize="1" noEditPoints="1" noAdjustHandles="1" noChangeArrowheads="1" noChangeShapeType="1" noTextEdit="1"/>
              </p:cNvSpPr>
              <p:nvPr/>
            </p:nvSpPr>
            <p:spPr>
              <a:xfrm>
                <a:off x="1705644" y="865985"/>
                <a:ext cx="590226" cy="276999"/>
              </a:xfrm>
              <a:prstGeom prst="rect">
                <a:avLst/>
              </a:prstGeom>
              <a:blipFill>
                <a:blip r:embed="rId3"/>
                <a:stretch>
                  <a:fillRect l="-9278" r="-8247" b="-888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B4573FC-A3CD-B745-0D29-4EB02D94F7AD}"/>
                  </a:ext>
                </a:extLst>
              </p:cNvPr>
              <p:cNvSpPr txBox="1"/>
              <p:nvPr/>
            </p:nvSpPr>
            <p:spPr>
              <a:xfrm>
                <a:off x="3066368" y="3533956"/>
                <a:ext cx="498150"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m:oMathPara>
                </a14:m>
                <a:endParaRPr lang="en-US" dirty="0"/>
              </a:p>
            </p:txBody>
          </p:sp>
        </mc:Choice>
        <mc:Fallback>
          <p:sp>
            <p:nvSpPr>
              <p:cNvPr id="9" name="TextBox 8">
                <a:extLst>
                  <a:ext uri="{FF2B5EF4-FFF2-40B4-BE49-F238E27FC236}">
                    <a16:creationId xmlns:a16="http://schemas.microsoft.com/office/drawing/2014/main" id="{2B4573FC-A3CD-B745-0D29-4EB02D94F7AD}"/>
                  </a:ext>
                </a:extLst>
              </p:cNvPr>
              <p:cNvSpPr txBox="1">
                <a:spLocks noRot="1" noChangeAspect="1" noMove="1" noResize="1" noEditPoints="1" noAdjustHandles="1" noChangeArrowheads="1" noChangeShapeType="1" noTextEdit="1"/>
              </p:cNvSpPr>
              <p:nvPr/>
            </p:nvSpPr>
            <p:spPr>
              <a:xfrm>
                <a:off x="3066368" y="3533956"/>
                <a:ext cx="498150" cy="276999"/>
              </a:xfrm>
              <a:prstGeom prst="rect">
                <a:avLst/>
              </a:prstGeom>
              <a:blipFill>
                <a:blip r:embed="rId4"/>
                <a:stretch>
                  <a:fillRect l="-9756" t="-4444" r="-17073" b="-377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2B9758CF-9C74-452F-B1E6-61227DCF241A}"/>
                  </a:ext>
                </a:extLst>
              </p:cNvPr>
              <p:cNvSpPr txBox="1"/>
              <p:nvPr/>
            </p:nvSpPr>
            <p:spPr>
              <a:xfrm>
                <a:off x="3348329" y="1142984"/>
                <a:ext cx="902106"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𝑉</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𝑘</m:t>
                      </m:r>
                      <m:r>
                        <a:rPr lang="en-US" b="0" i="1"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10" name="TextBox 9">
                <a:extLst>
                  <a:ext uri="{FF2B5EF4-FFF2-40B4-BE49-F238E27FC236}">
                    <a16:creationId xmlns:a16="http://schemas.microsoft.com/office/drawing/2014/main" id="{2B9758CF-9C74-452F-B1E6-61227DCF241A}"/>
                  </a:ext>
                </a:extLst>
              </p:cNvPr>
              <p:cNvSpPr txBox="1">
                <a:spLocks noRot="1" noChangeAspect="1" noMove="1" noResize="1" noEditPoints="1" noAdjustHandles="1" noChangeArrowheads="1" noChangeShapeType="1" noTextEdit="1"/>
              </p:cNvSpPr>
              <p:nvPr/>
            </p:nvSpPr>
            <p:spPr>
              <a:xfrm>
                <a:off x="3348329" y="1142984"/>
                <a:ext cx="902106" cy="276999"/>
              </a:xfrm>
              <a:prstGeom prst="rect">
                <a:avLst/>
              </a:prstGeom>
              <a:blipFill>
                <a:blip r:embed="rId5"/>
                <a:stretch>
                  <a:fillRect l="-5405" t="-2174" r="-9459" b="-369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B27C1DC-1DAB-8EE9-B5B3-1B958B45D159}"/>
                  </a:ext>
                </a:extLst>
              </p:cNvPr>
              <p:cNvSpPr txBox="1"/>
              <p:nvPr/>
            </p:nvSpPr>
            <p:spPr>
              <a:xfrm>
                <a:off x="2148663" y="2230983"/>
                <a:ext cx="61003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𝑑𝑥</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m:oMathPara>
                </a14:m>
                <a:endParaRPr lang="en-US" dirty="0"/>
              </a:p>
            </p:txBody>
          </p:sp>
        </mc:Choice>
        <mc:Fallback>
          <p:sp>
            <p:nvSpPr>
              <p:cNvPr id="11" name="TextBox 10">
                <a:extLst>
                  <a:ext uri="{FF2B5EF4-FFF2-40B4-BE49-F238E27FC236}">
                    <a16:creationId xmlns:a16="http://schemas.microsoft.com/office/drawing/2014/main" id="{CB27C1DC-1DAB-8EE9-B5B3-1B958B45D159}"/>
                  </a:ext>
                </a:extLst>
              </p:cNvPr>
              <p:cNvSpPr txBox="1">
                <a:spLocks noRot="1" noChangeAspect="1" noMove="1" noResize="1" noEditPoints="1" noAdjustHandles="1" noChangeArrowheads="1" noChangeShapeType="1" noTextEdit="1"/>
              </p:cNvSpPr>
              <p:nvPr/>
            </p:nvSpPr>
            <p:spPr>
              <a:xfrm>
                <a:off x="2148663" y="2230983"/>
                <a:ext cx="610039" cy="276999"/>
              </a:xfrm>
              <a:prstGeom prst="rect">
                <a:avLst/>
              </a:prstGeom>
              <a:blipFill>
                <a:blip r:embed="rId6"/>
                <a:stretch>
                  <a:fillRect l="-8911" t="-4444" r="-12871" b="-377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011107D-5C13-40F3-BDDF-A6BC7730543C}"/>
                  </a:ext>
                </a:extLst>
              </p:cNvPr>
              <p:cNvSpPr txBox="1"/>
              <p:nvPr/>
            </p:nvSpPr>
            <p:spPr>
              <a:xfrm>
                <a:off x="2281713" y="3533956"/>
                <a:ext cx="47698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m:oMathPara>
                </a14:m>
                <a:endParaRPr lang="en-US" dirty="0"/>
              </a:p>
            </p:txBody>
          </p:sp>
        </mc:Choice>
        <mc:Fallback>
          <p:sp>
            <p:nvSpPr>
              <p:cNvPr id="12" name="TextBox 11">
                <a:extLst>
                  <a:ext uri="{FF2B5EF4-FFF2-40B4-BE49-F238E27FC236}">
                    <a16:creationId xmlns:a16="http://schemas.microsoft.com/office/drawing/2014/main" id="{E011107D-5C13-40F3-BDDF-A6BC7730543C}"/>
                  </a:ext>
                </a:extLst>
              </p:cNvPr>
              <p:cNvSpPr txBox="1">
                <a:spLocks noRot="1" noChangeAspect="1" noMove="1" noResize="1" noEditPoints="1" noAdjustHandles="1" noChangeArrowheads="1" noChangeShapeType="1" noTextEdit="1"/>
              </p:cNvSpPr>
              <p:nvPr/>
            </p:nvSpPr>
            <p:spPr>
              <a:xfrm>
                <a:off x="2281713" y="3533956"/>
                <a:ext cx="476989" cy="276999"/>
              </a:xfrm>
              <a:prstGeom prst="rect">
                <a:avLst/>
              </a:prstGeom>
              <a:blipFill>
                <a:blip r:embed="rId7"/>
                <a:stretch>
                  <a:fillRect l="-6329" t="-4444" r="-16456" b="-377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BF64F84C-2C85-9A4D-7ABF-87F49EF60CDC}"/>
                  </a:ext>
                </a:extLst>
              </p:cNvPr>
              <p:cNvSpPr txBox="1"/>
              <p:nvPr/>
            </p:nvSpPr>
            <p:spPr>
              <a:xfrm>
                <a:off x="2185421" y="1142984"/>
                <a:ext cx="88094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oMath>
                  </m:oMathPara>
                </a14:m>
                <a:endParaRPr lang="en-US" dirty="0"/>
              </a:p>
            </p:txBody>
          </p:sp>
        </mc:Choice>
        <mc:Fallback>
          <p:sp>
            <p:nvSpPr>
              <p:cNvPr id="13" name="TextBox 12">
                <a:extLst>
                  <a:ext uri="{FF2B5EF4-FFF2-40B4-BE49-F238E27FC236}">
                    <a16:creationId xmlns:a16="http://schemas.microsoft.com/office/drawing/2014/main" id="{BF64F84C-2C85-9A4D-7ABF-87F49EF60CDC}"/>
                  </a:ext>
                </a:extLst>
              </p:cNvPr>
              <p:cNvSpPr txBox="1">
                <a:spLocks noRot="1" noChangeAspect="1" noMove="1" noResize="1" noEditPoints="1" noAdjustHandles="1" noChangeArrowheads="1" noChangeShapeType="1" noTextEdit="1"/>
              </p:cNvSpPr>
              <p:nvPr/>
            </p:nvSpPr>
            <p:spPr>
              <a:xfrm>
                <a:off x="2185421" y="1142984"/>
                <a:ext cx="880947" cy="276999"/>
              </a:xfrm>
              <a:prstGeom prst="rect">
                <a:avLst/>
              </a:prstGeom>
              <a:blipFill>
                <a:blip r:embed="rId8"/>
                <a:stretch>
                  <a:fillRect l="-3472" t="-2174" r="-9722" b="-369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CFEEA4B1-21AB-4E1C-15F5-485759190F05}"/>
                  </a:ext>
                </a:extLst>
              </p:cNvPr>
              <p:cNvSpPr txBox="1"/>
              <p:nvPr/>
            </p:nvSpPr>
            <p:spPr>
              <a:xfrm>
                <a:off x="3786002" y="3485030"/>
                <a:ext cx="669671" cy="52591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𝑑𝑉</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m:oMathPara>
                </a14:m>
                <a:endParaRPr lang="en-US" dirty="0"/>
              </a:p>
            </p:txBody>
          </p:sp>
        </mc:Choice>
        <mc:Fallback>
          <p:sp>
            <p:nvSpPr>
              <p:cNvPr id="14" name="TextBox 13">
                <a:extLst>
                  <a:ext uri="{FF2B5EF4-FFF2-40B4-BE49-F238E27FC236}">
                    <a16:creationId xmlns:a16="http://schemas.microsoft.com/office/drawing/2014/main" id="{CFEEA4B1-21AB-4E1C-15F5-485759190F05}"/>
                  </a:ext>
                </a:extLst>
              </p:cNvPr>
              <p:cNvSpPr txBox="1">
                <a:spLocks noRot="1" noChangeAspect="1" noMove="1" noResize="1" noEditPoints="1" noAdjustHandles="1" noChangeArrowheads="1" noChangeShapeType="1" noTextEdit="1"/>
              </p:cNvSpPr>
              <p:nvPr/>
            </p:nvSpPr>
            <p:spPr>
              <a:xfrm>
                <a:off x="3786002" y="3485030"/>
                <a:ext cx="669671" cy="525913"/>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F47AE582-8C3C-9A34-026C-4665EF213D2B}"/>
                  </a:ext>
                </a:extLst>
              </p:cNvPr>
              <p:cNvSpPr txBox="1"/>
              <p:nvPr/>
            </p:nvSpPr>
            <p:spPr>
              <a:xfrm>
                <a:off x="2423422" y="5219882"/>
                <a:ext cx="3604064" cy="81836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𝑉</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𝑘</m:t>
                          </m:r>
                          <m:r>
                            <a:rPr lang="en-US" b="0" i="1" smtClean="0">
                              <a:solidFill>
                                <a:srgbClr val="FF0000"/>
                              </a:solidFill>
                              <a:latin typeface="Cambria Math" panose="02040503050406030204" pitchFamily="18" charset="0"/>
                            </a:rPr>
                            <m:t>+1</m:t>
                          </m:r>
                        </m:e>
                      </m: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𝑉</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𝑘</m:t>
                                  </m:r>
                                </m:e>
                              </m:d>
                            </m:e>
                            <m:sup>
                              <m:r>
                                <a:rPr lang="en-US" b="0" i="1" smtClean="0">
                                  <a:latin typeface="Cambria Math" panose="02040503050406030204" pitchFamily="18" charset="0"/>
                                </a:rPr>
                                <m:t>2</m:t>
                              </m:r>
                            </m:sup>
                          </m:sSup>
                          <m:r>
                            <a:rPr lang="en-US" b="0" i="1" smtClean="0">
                              <a:latin typeface="Cambria Math" panose="02040503050406030204" pitchFamily="18" charset="0"/>
                            </a:rPr>
                            <m:t>+2</m:t>
                          </m:r>
                          <m:f>
                            <m:fPr>
                              <m:ctrlPr>
                                <a:rPr lang="en-US" b="0" i="1" smtClean="0">
                                  <a:latin typeface="Cambria Math" panose="02040503050406030204" pitchFamily="18" charset="0"/>
                                </a:rPr>
                              </m:ctrlPr>
                            </m:fPr>
                            <m:num>
                              <m:r>
                                <a:rPr lang="en-US" b="0" i="1" smtClean="0">
                                  <a:latin typeface="Cambria Math" panose="02040503050406030204" pitchFamily="18" charset="0"/>
                                </a:rPr>
                                <m:t>𝑑𝑉</m:t>
                              </m:r>
                            </m:num>
                            <m:den>
                              <m:r>
                                <a:rPr lang="en-US" b="0" i="1" smtClean="0">
                                  <a:latin typeface="Cambria Math" panose="02040503050406030204" pitchFamily="18" charset="0"/>
                                </a:rPr>
                                <m:t>𝑑𝑡</m:t>
                              </m:r>
                            </m:den>
                          </m:f>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 </m:t>
                          </m:r>
                          <m:r>
                            <a:rPr lang="en-US" b="0" i="1" smtClean="0">
                              <a:latin typeface="Cambria Math" panose="02040503050406030204" pitchFamily="18" charset="0"/>
                            </a:rPr>
                            <m:t>𝑑𝑥</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e>
                      </m:rad>
                    </m:oMath>
                  </m:oMathPara>
                </a14:m>
                <a:endParaRPr lang="en-US" dirty="0"/>
              </a:p>
            </p:txBody>
          </p:sp>
        </mc:Choice>
        <mc:Fallback>
          <p:sp>
            <p:nvSpPr>
              <p:cNvPr id="16" name="TextBox 15">
                <a:extLst>
                  <a:ext uri="{FF2B5EF4-FFF2-40B4-BE49-F238E27FC236}">
                    <a16:creationId xmlns:a16="http://schemas.microsoft.com/office/drawing/2014/main" id="{F47AE582-8C3C-9A34-026C-4665EF213D2B}"/>
                  </a:ext>
                </a:extLst>
              </p:cNvPr>
              <p:cNvSpPr txBox="1">
                <a:spLocks noRot="1" noChangeAspect="1" noMove="1" noResize="1" noEditPoints="1" noAdjustHandles="1" noChangeArrowheads="1" noChangeShapeType="1" noTextEdit="1"/>
              </p:cNvSpPr>
              <p:nvPr/>
            </p:nvSpPr>
            <p:spPr>
              <a:xfrm>
                <a:off x="2423422" y="5219882"/>
                <a:ext cx="3604064" cy="81836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567525CF-9730-DFD3-0D72-9011ACB05E80}"/>
                  </a:ext>
                </a:extLst>
              </p:cNvPr>
              <p:cNvSpPr txBox="1"/>
              <p:nvPr/>
            </p:nvSpPr>
            <p:spPr>
              <a:xfrm>
                <a:off x="2148663" y="2632452"/>
                <a:ext cx="576633"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𝑑𝑡</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𝑘</m:t>
                      </m:r>
                      <m:r>
                        <a:rPr lang="en-US" b="0" i="1" smtClean="0">
                          <a:solidFill>
                            <a:srgbClr val="FF0000"/>
                          </a:solidFill>
                          <a:latin typeface="Cambria Math" panose="02040503050406030204" pitchFamily="18" charset="0"/>
                        </a:rPr>
                        <m:t>]</m:t>
                      </m:r>
                    </m:oMath>
                  </m:oMathPara>
                </a14:m>
                <a:endParaRPr lang="en-US" dirty="0">
                  <a:solidFill>
                    <a:srgbClr val="FF0000"/>
                  </a:solidFill>
                </a:endParaRPr>
              </a:p>
            </p:txBody>
          </p:sp>
        </mc:Choice>
        <mc:Fallback>
          <p:sp>
            <p:nvSpPr>
              <p:cNvPr id="18" name="TextBox 17">
                <a:extLst>
                  <a:ext uri="{FF2B5EF4-FFF2-40B4-BE49-F238E27FC236}">
                    <a16:creationId xmlns:a16="http://schemas.microsoft.com/office/drawing/2014/main" id="{567525CF-9730-DFD3-0D72-9011ACB05E80}"/>
                  </a:ext>
                </a:extLst>
              </p:cNvPr>
              <p:cNvSpPr txBox="1">
                <a:spLocks noRot="1" noChangeAspect="1" noMove="1" noResize="1" noEditPoints="1" noAdjustHandles="1" noChangeArrowheads="1" noChangeShapeType="1" noTextEdit="1"/>
              </p:cNvSpPr>
              <p:nvPr/>
            </p:nvSpPr>
            <p:spPr>
              <a:xfrm>
                <a:off x="2148663" y="2632452"/>
                <a:ext cx="576633" cy="276999"/>
              </a:xfrm>
              <a:prstGeom prst="rect">
                <a:avLst/>
              </a:prstGeom>
              <a:blipFill>
                <a:blip r:embed="rId11"/>
                <a:stretch>
                  <a:fillRect l="-9474" t="-4444" r="-14737" b="-377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BFC476F4-5174-0ABF-FACB-AA35BA780148}"/>
                  </a:ext>
                </a:extLst>
              </p:cNvPr>
              <p:cNvSpPr txBox="1"/>
              <p:nvPr/>
            </p:nvSpPr>
            <p:spPr>
              <a:xfrm>
                <a:off x="6758698" y="5269448"/>
                <a:ext cx="2450736" cy="76880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𝑑𝑡</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𝑘</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num>
                        <m:den>
                          <m:f>
                            <m:fPr>
                              <m:ctrlPr>
                                <a:rPr lang="en-US" b="0" i="1" smtClean="0">
                                  <a:latin typeface="Cambria Math" panose="02040503050406030204" pitchFamily="18" charset="0"/>
                                </a:rPr>
                              </m:ctrlPr>
                            </m:fPr>
                            <m:num>
                              <m:r>
                                <a:rPr lang="en-US" b="0" i="1" smtClean="0">
                                  <a:latin typeface="Cambria Math" panose="02040503050406030204" pitchFamily="18" charset="0"/>
                                </a:rPr>
                                <m:t>𝑑𝑉</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den>
                      </m:f>
                    </m:oMath>
                  </m:oMathPara>
                </a14:m>
                <a:endParaRPr lang="en-US" dirty="0"/>
              </a:p>
            </p:txBody>
          </p:sp>
        </mc:Choice>
        <mc:Fallback>
          <p:sp>
            <p:nvSpPr>
              <p:cNvPr id="20" name="TextBox 19">
                <a:extLst>
                  <a:ext uri="{FF2B5EF4-FFF2-40B4-BE49-F238E27FC236}">
                    <a16:creationId xmlns:a16="http://schemas.microsoft.com/office/drawing/2014/main" id="{BFC476F4-5174-0ABF-FACB-AA35BA780148}"/>
                  </a:ext>
                </a:extLst>
              </p:cNvPr>
              <p:cNvSpPr txBox="1">
                <a:spLocks noRot="1" noChangeAspect="1" noMove="1" noResize="1" noEditPoints="1" noAdjustHandles="1" noChangeArrowheads="1" noChangeShapeType="1" noTextEdit="1"/>
              </p:cNvSpPr>
              <p:nvPr/>
            </p:nvSpPr>
            <p:spPr>
              <a:xfrm>
                <a:off x="6758698" y="5269448"/>
                <a:ext cx="2450736" cy="768800"/>
              </a:xfrm>
              <a:prstGeom prst="rect">
                <a:avLst/>
              </a:prstGeom>
              <a:blipFill>
                <a:blip r:embed="rId12"/>
                <a:stretch>
                  <a:fillRect/>
                </a:stretch>
              </a:blipFill>
            </p:spPr>
            <p:txBody>
              <a:bodyPr/>
              <a:lstStyle/>
              <a:p>
                <a:r>
                  <a:rPr lang="en-US">
                    <a:noFill/>
                  </a:rPr>
                  <a:t> </a:t>
                </a:r>
              </a:p>
            </p:txBody>
          </p:sp>
        </mc:Fallback>
      </mc:AlternateContent>
      <p:sp>
        <p:nvSpPr>
          <p:cNvPr id="21" name="Arc 20">
            <a:extLst>
              <a:ext uri="{FF2B5EF4-FFF2-40B4-BE49-F238E27FC236}">
                <a16:creationId xmlns:a16="http://schemas.microsoft.com/office/drawing/2014/main" id="{74A70012-8DCE-3FB6-53D7-224136FF9057}"/>
              </a:ext>
            </a:extLst>
          </p:cNvPr>
          <p:cNvSpPr/>
          <p:nvPr/>
        </p:nvSpPr>
        <p:spPr>
          <a:xfrm>
            <a:off x="8077200" y="1142984"/>
            <a:ext cx="3124198" cy="3006997"/>
          </a:xfrm>
          <a:prstGeom prst="arc">
            <a:avLst>
              <a:gd name="adj1" fmla="val 12268771"/>
              <a:gd name="adj2" fmla="val 15935682"/>
            </a:avLst>
          </a:prstGeom>
          <a:ln w="25400">
            <a:solidFill>
              <a:schemeClr val="tx1"/>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6E89651E-CA8C-09F6-9473-5F210CBC0DD9}"/>
              </a:ext>
            </a:extLst>
          </p:cNvPr>
          <p:cNvCxnSpPr/>
          <p:nvPr/>
        </p:nvCxnSpPr>
        <p:spPr>
          <a:xfrm>
            <a:off x="8229600" y="2057400"/>
            <a:ext cx="1905000" cy="1371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Arrow: Up 23">
            <a:extLst>
              <a:ext uri="{FF2B5EF4-FFF2-40B4-BE49-F238E27FC236}">
                <a16:creationId xmlns:a16="http://schemas.microsoft.com/office/drawing/2014/main" id="{42A73128-AE4B-418A-3CB6-BBBA3B30EF2B}"/>
              </a:ext>
            </a:extLst>
          </p:cNvPr>
          <p:cNvSpPr/>
          <p:nvPr/>
        </p:nvSpPr>
        <p:spPr>
          <a:xfrm>
            <a:off x="1705644" y="2425102"/>
            <a:ext cx="158424" cy="484349"/>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Up 24">
            <a:extLst>
              <a:ext uri="{FF2B5EF4-FFF2-40B4-BE49-F238E27FC236}">
                <a16:creationId xmlns:a16="http://schemas.microsoft.com/office/drawing/2014/main" id="{BFF11D1E-8E72-DF5D-77F2-F7C7EB5F89EF}"/>
              </a:ext>
            </a:extLst>
          </p:cNvPr>
          <p:cNvSpPr/>
          <p:nvPr/>
        </p:nvSpPr>
        <p:spPr>
          <a:xfrm rot="3201682">
            <a:off x="8534416" y="1025056"/>
            <a:ext cx="158424" cy="484349"/>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F1822FB0-CDC6-CEDA-48A3-A89305AD95CF}"/>
                  </a:ext>
                </a:extLst>
              </p:cNvPr>
              <p:cNvSpPr txBox="1"/>
              <p:nvPr/>
            </p:nvSpPr>
            <p:spPr>
              <a:xfrm>
                <a:off x="9344186" y="788349"/>
                <a:ext cx="590226"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m:oMathPara>
                </a14:m>
                <a:endParaRPr lang="en-US" dirty="0"/>
              </a:p>
            </p:txBody>
          </p:sp>
        </mc:Choice>
        <mc:Fallback>
          <p:sp>
            <p:nvSpPr>
              <p:cNvPr id="26" name="TextBox 25">
                <a:extLst>
                  <a:ext uri="{FF2B5EF4-FFF2-40B4-BE49-F238E27FC236}">
                    <a16:creationId xmlns:a16="http://schemas.microsoft.com/office/drawing/2014/main" id="{F1822FB0-CDC6-CEDA-48A3-A89305AD95CF}"/>
                  </a:ext>
                </a:extLst>
              </p:cNvPr>
              <p:cNvSpPr txBox="1">
                <a:spLocks noRot="1" noChangeAspect="1" noMove="1" noResize="1" noEditPoints="1" noAdjustHandles="1" noChangeArrowheads="1" noChangeShapeType="1" noTextEdit="1"/>
              </p:cNvSpPr>
              <p:nvPr/>
            </p:nvSpPr>
            <p:spPr>
              <a:xfrm>
                <a:off x="9344186" y="788349"/>
                <a:ext cx="590226" cy="276999"/>
              </a:xfrm>
              <a:prstGeom prst="rect">
                <a:avLst/>
              </a:prstGeom>
              <a:blipFill>
                <a:blip r:embed="rId13"/>
                <a:stretch>
                  <a:fillRect l="-9278" r="-8247" b="-65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CFB218BD-022A-58CF-E604-51001B869821}"/>
                  </a:ext>
                </a:extLst>
              </p:cNvPr>
              <p:cNvSpPr txBox="1"/>
              <p:nvPr/>
            </p:nvSpPr>
            <p:spPr>
              <a:xfrm>
                <a:off x="7984066" y="1693851"/>
                <a:ext cx="18626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𝑘</m:t>
                      </m:r>
                    </m:oMath>
                  </m:oMathPara>
                </a14:m>
                <a:endParaRPr lang="en-US" dirty="0"/>
              </a:p>
            </p:txBody>
          </p:sp>
        </mc:Choice>
        <mc:Fallback>
          <p:sp>
            <p:nvSpPr>
              <p:cNvPr id="27" name="TextBox 26">
                <a:extLst>
                  <a:ext uri="{FF2B5EF4-FFF2-40B4-BE49-F238E27FC236}">
                    <a16:creationId xmlns:a16="http://schemas.microsoft.com/office/drawing/2014/main" id="{CFB218BD-022A-58CF-E604-51001B869821}"/>
                  </a:ext>
                </a:extLst>
              </p:cNvPr>
              <p:cNvSpPr txBox="1">
                <a:spLocks noRot="1" noChangeAspect="1" noMove="1" noResize="1" noEditPoints="1" noAdjustHandles="1" noChangeArrowheads="1" noChangeShapeType="1" noTextEdit="1"/>
              </p:cNvSpPr>
              <p:nvPr/>
            </p:nvSpPr>
            <p:spPr>
              <a:xfrm>
                <a:off x="7984066" y="1693851"/>
                <a:ext cx="186268" cy="276999"/>
              </a:xfrm>
              <a:prstGeom prst="rect">
                <a:avLst/>
              </a:prstGeom>
              <a:blipFill>
                <a:blip r:embed="rId14"/>
                <a:stretch>
                  <a:fillRect l="-33333" r="-30000" b="-888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CCDA2059-ABB1-6F8C-150E-BE0193815806}"/>
                  </a:ext>
                </a:extLst>
              </p:cNvPr>
              <p:cNvSpPr txBox="1"/>
              <p:nvPr/>
            </p:nvSpPr>
            <p:spPr>
              <a:xfrm>
                <a:off x="8183626" y="2298530"/>
                <a:ext cx="498150"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m:oMathPara>
                </a14:m>
                <a:endParaRPr lang="en-US" dirty="0"/>
              </a:p>
            </p:txBody>
          </p:sp>
        </mc:Choice>
        <mc:Fallback>
          <p:sp>
            <p:nvSpPr>
              <p:cNvPr id="28" name="TextBox 27">
                <a:extLst>
                  <a:ext uri="{FF2B5EF4-FFF2-40B4-BE49-F238E27FC236}">
                    <a16:creationId xmlns:a16="http://schemas.microsoft.com/office/drawing/2014/main" id="{CCDA2059-ABB1-6F8C-150E-BE0193815806}"/>
                  </a:ext>
                </a:extLst>
              </p:cNvPr>
              <p:cNvSpPr txBox="1">
                <a:spLocks noRot="1" noChangeAspect="1" noMove="1" noResize="1" noEditPoints="1" noAdjustHandles="1" noChangeArrowheads="1" noChangeShapeType="1" noTextEdit="1"/>
              </p:cNvSpPr>
              <p:nvPr/>
            </p:nvSpPr>
            <p:spPr>
              <a:xfrm>
                <a:off x="8183626" y="2298530"/>
                <a:ext cx="498150" cy="276999"/>
              </a:xfrm>
              <a:prstGeom prst="rect">
                <a:avLst/>
              </a:prstGeom>
              <a:blipFill>
                <a:blip r:embed="rId15"/>
                <a:stretch>
                  <a:fillRect l="-9756" t="-2222" r="-17073" b="-4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B7941920-E4A0-937E-787C-5DEEAE809D36}"/>
                  </a:ext>
                </a:extLst>
              </p:cNvPr>
              <p:cNvSpPr txBox="1"/>
              <p:nvPr/>
            </p:nvSpPr>
            <p:spPr>
              <a:xfrm>
                <a:off x="7672848" y="2109350"/>
                <a:ext cx="47698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m:oMathPara>
                </a14:m>
                <a:endParaRPr lang="en-US" dirty="0"/>
              </a:p>
            </p:txBody>
          </p:sp>
        </mc:Choice>
        <mc:Fallback>
          <p:sp>
            <p:nvSpPr>
              <p:cNvPr id="29" name="TextBox 28">
                <a:extLst>
                  <a:ext uri="{FF2B5EF4-FFF2-40B4-BE49-F238E27FC236}">
                    <a16:creationId xmlns:a16="http://schemas.microsoft.com/office/drawing/2014/main" id="{B7941920-E4A0-937E-787C-5DEEAE809D36}"/>
                  </a:ext>
                </a:extLst>
              </p:cNvPr>
              <p:cNvSpPr txBox="1">
                <a:spLocks noRot="1" noChangeAspect="1" noMove="1" noResize="1" noEditPoints="1" noAdjustHandles="1" noChangeArrowheads="1" noChangeShapeType="1" noTextEdit="1"/>
              </p:cNvSpPr>
              <p:nvPr/>
            </p:nvSpPr>
            <p:spPr>
              <a:xfrm>
                <a:off x="7672848" y="2109350"/>
                <a:ext cx="476989" cy="276999"/>
              </a:xfrm>
              <a:prstGeom prst="rect">
                <a:avLst/>
              </a:prstGeom>
              <a:blipFill>
                <a:blip r:embed="rId16"/>
                <a:stretch>
                  <a:fillRect l="-6410" t="-2222" r="-16667" b="-4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39156E45-14C4-21E6-DF99-BFDFBBB4785C}"/>
                  </a:ext>
                </a:extLst>
              </p:cNvPr>
              <p:cNvSpPr txBox="1"/>
              <p:nvPr/>
            </p:nvSpPr>
            <p:spPr>
              <a:xfrm>
                <a:off x="7773393" y="2506205"/>
                <a:ext cx="669671" cy="52591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𝑑𝑉</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m:oMathPara>
                </a14:m>
                <a:endParaRPr lang="en-US" dirty="0"/>
              </a:p>
            </p:txBody>
          </p:sp>
        </mc:Choice>
        <mc:Fallback>
          <p:sp>
            <p:nvSpPr>
              <p:cNvPr id="30" name="TextBox 29">
                <a:extLst>
                  <a:ext uri="{FF2B5EF4-FFF2-40B4-BE49-F238E27FC236}">
                    <a16:creationId xmlns:a16="http://schemas.microsoft.com/office/drawing/2014/main" id="{39156E45-14C4-21E6-DF99-BFDFBBB4785C}"/>
                  </a:ext>
                </a:extLst>
              </p:cNvPr>
              <p:cNvSpPr txBox="1">
                <a:spLocks noRot="1" noChangeAspect="1" noMove="1" noResize="1" noEditPoints="1" noAdjustHandles="1" noChangeArrowheads="1" noChangeShapeType="1" noTextEdit="1"/>
              </p:cNvSpPr>
              <p:nvPr/>
            </p:nvSpPr>
            <p:spPr>
              <a:xfrm>
                <a:off x="7773393" y="2506205"/>
                <a:ext cx="669671" cy="525913"/>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3532922C-BA99-EB1F-18BD-027DF998C785}"/>
                  </a:ext>
                </a:extLst>
              </p:cNvPr>
              <p:cNvSpPr txBox="1"/>
              <p:nvPr/>
            </p:nvSpPr>
            <p:spPr>
              <a:xfrm>
                <a:off x="9301448" y="3186492"/>
                <a:ext cx="50077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m:oMathPara>
                </a14:m>
                <a:endParaRPr lang="en-US" dirty="0"/>
              </a:p>
            </p:txBody>
          </p:sp>
        </mc:Choice>
        <mc:Fallback>
          <p:sp>
            <p:nvSpPr>
              <p:cNvPr id="31" name="TextBox 30">
                <a:extLst>
                  <a:ext uri="{FF2B5EF4-FFF2-40B4-BE49-F238E27FC236}">
                    <a16:creationId xmlns:a16="http://schemas.microsoft.com/office/drawing/2014/main" id="{3532922C-BA99-EB1F-18BD-027DF998C785}"/>
                  </a:ext>
                </a:extLst>
              </p:cNvPr>
              <p:cNvSpPr txBox="1">
                <a:spLocks noRot="1" noChangeAspect="1" noMove="1" noResize="1" noEditPoints="1" noAdjustHandles="1" noChangeArrowheads="1" noChangeShapeType="1" noTextEdit="1"/>
              </p:cNvSpPr>
              <p:nvPr/>
            </p:nvSpPr>
            <p:spPr>
              <a:xfrm>
                <a:off x="9301448" y="3186492"/>
                <a:ext cx="500778" cy="276999"/>
              </a:xfrm>
              <a:prstGeom prst="rect">
                <a:avLst/>
              </a:prstGeom>
              <a:blipFill>
                <a:blip r:embed="rId18"/>
                <a:stretch>
                  <a:fillRect l="-10976" t="-4444" r="-15854" b="-37778"/>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019E4026-7AC7-4AE8-CCD7-A76C1CAF0767}"/>
              </a:ext>
            </a:extLst>
          </p:cNvPr>
          <p:cNvCxnSpPr>
            <a:cxnSpLocks/>
          </p:cNvCxnSpPr>
          <p:nvPr/>
        </p:nvCxnSpPr>
        <p:spPr>
          <a:xfrm>
            <a:off x="9499499" y="1142983"/>
            <a:ext cx="635101" cy="2286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3318C9B6-34A2-AC5F-550B-DC5D9D8AB332}"/>
                  </a:ext>
                </a:extLst>
              </p:cNvPr>
              <p:cNvSpPr txBox="1"/>
              <p:nvPr/>
            </p:nvSpPr>
            <p:spPr>
              <a:xfrm>
                <a:off x="8673067" y="1462311"/>
                <a:ext cx="61003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𝑑𝑥</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𝑘</m:t>
                      </m:r>
                      <m:r>
                        <a:rPr lang="en-US" b="0" i="1" smtClean="0">
                          <a:solidFill>
                            <a:srgbClr val="FF0000"/>
                          </a:solidFill>
                          <a:latin typeface="Cambria Math" panose="02040503050406030204" pitchFamily="18" charset="0"/>
                        </a:rPr>
                        <m:t>]</m:t>
                      </m:r>
                    </m:oMath>
                  </m:oMathPara>
                </a14:m>
                <a:endParaRPr lang="en-US" dirty="0">
                  <a:solidFill>
                    <a:srgbClr val="FF0000"/>
                  </a:solidFill>
                </a:endParaRPr>
              </a:p>
            </p:txBody>
          </p:sp>
        </mc:Choice>
        <mc:Fallback>
          <p:sp>
            <p:nvSpPr>
              <p:cNvPr id="35" name="TextBox 34">
                <a:extLst>
                  <a:ext uri="{FF2B5EF4-FFF2-40B4-BE49-F238E27FC236}">
                    <a16:creationId xmlns:a16="http://schemas.microsoft.com/office/drawing/2014/main" id="{3318C9B6-34A2-AC5F-550B-DC5D9D8AB332}"/>
                  </a:ext>
                </a:extLst>
              </p:cNvPr>
              <p:cNvSpPr txBox="1">
                <a:spLocks noRot="1" noChangeAspect="1" noMove="1" noResize="1" noEditPoints="1" noAdjustHandles="1" noChangeArrowheads="1" noChangeShapeType="1" noTextEdit="1"/>
              </p:cNvSpPr>
              <p:nvPr/>
            </p:nvSpPr>
            <p:spPr>
              <a:xfrm>
                <a:off x="8673067" y="1462311"/>
                <a:ext cx="610039" cy="276999"/>
              </a:xfrm>
              <a:prstGeom prst="rect">
                <a:avLst/>
              </a:prstGeom>
              <a:blipFill>
                <a:blip r:embed="rId19"/>
                <a:stretch>
                  <a:fillRect l="-9000" t="-4444" r="-13000" b="-377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FFD1F6E1-4929-3A7C-ECDC-45C24645C220}"/>
                  </a:ext>
                </a:extLst>
              </p:cNvPr>
              <p:cNvSpPr txBox="1"/>
              <p:nvPr/>
            </p:nvSpPr>
            <p:spPr>
              <a:xfrm>
                <a:off x="9683547" y="1108492"/>
                <a:ext cx="902106"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𝑉</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𝑘</m:t>
                      </m:r>
                      <m:r>
                        <a:rPr lang="en-US" b="0" i="1"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36" name="TextBox 35">
                <a:extLst>
                  <a:ext uri="{FF2B5EF4-FFF2-40B4-BE49-F238E27FC236}">
                    <a16:creationId xmlns:a16="http://schemas.microsoft.com/office/drawing/2014/main" id="{FFD1F6E1-4929-3A7C-ECDC-45C24645C220}"/>
                  </a:ext>
                </a:extLst>
              </p:cNvPr>
              <p:cNvSpPr txBox="1">
                <a:spLocks noRot="1" noChangeAspect="1" noMove="1" noResize="1" noEditPoints="1" noAdjustHandles="1" noChangeArrowheads="1" noChangeShapeType="1" noTextEdit="1"/>
              </p:cNvSpPr>
              <p:nvPr/>
            </p:nvSpPr>
            <p:spPr>
              <a:xfrm>
                <a:off x="9683547" y="1108492"/>
                <a:ext cx="902106" cy="276999"/>
              </a:xfrm>
              <a:prstGeom prst="rect">
                <a:avLst/>
              </a:prstGeom>
              <a:blipFill>
                <a:blip r:embed="rId20"/>
                <a:stretch>
                  <a:fillRect l="-6122" t="-4444" r="-9524" b="-377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94428090-B3C4-4F38-D7C7-843FE2501CEB}"/>
                  </a:ext>
                </a:extLst>
              </p:cNvPr>
              <p:cNvSpPr txBox="1"/>
              <p:nvPr/>
            </p:nvSpPr>
            <p:spPr>
              <a:xfrm>
                <a:off x="9594046" y="2667276"/>
                <a:ext cx="96423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𝑑𝐻𝐷𝐺</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m:oMathPara>
                </a14:m>
                <a:endParaRPr lang="en-US" dirty="0"/>
              </a:p>
            </p:txBody>
          </p:sp>
        </mc:Choice>
        <mc:Fallback>
          <p:sp>
            <p:nvSpPr>
              <p:cNvPr id="37" name="TextBox 36">
                <a:extLst>
                  <a:ext uri="{FF2B5EF4-FFF2-40B4-BE49-F238E27FC236}">
                    <a16:creationId xmlns:a16="http://schemas.microsoft.com/office/drawing/2014/main" id="{94428090-B3C4-4F38-D7C7-843FE2501CEB}"/>
                  </a:ext>
                </a:extLst>
              </p:cNvPr>
              <p:cNvSpPr txBox="1">
                <a:spLocks noRot="1" noChangeAspect="1" noMove="1" noResize="1" noEditPoints="1" noAdjustHandles="1" noChangeArrowheads="1" noChangeShapeType="1" noTextEdit="1"/>
              </p:cNvSpPr>
              <p:nvPr/>
            </p:nvSpPr>
            <p:spPr>
              <a:xfrm>
                <a:off x="9594046" y="2667276"/>
                <a:ext cx="964238" cy="276999"/>
              </a:xfrm>
              <a:prstGeom prst="rect">
                <a:avLst/>
              </a:prstGeom>
              <a:blipFill>
                <a:blip r:embed="rId21"/>
                <a:stretch>
                  <a:fillRect l="-5696" t="-4444" r="-8228" b="-37778"/>
                </a:stretch>
              </a:blipFill>
            </p:spPr>
            <p:txBody>
              <a:bodyPr/>
              <a:lstStyle/>
              <a:p>
                <a:r>
                  <a:rPr lang="en-US">
                    <a:noFill/>
                  </a:rPr>
                  <a:t> </a:t>
                </a:r>
              </a:p>
            </p:txBody>
          </p:sp>
        </mc:Fallback>
      </mc:AlternateContent>
      <p:sp>
        <p:nvSpPr>
          <p:cNvPr id="38" name="Freeform: Shape 37">
            <a:extLst>
              <a:ext uri="{FF2B5EF4-FFF2-40B4-BE49-F238E27FC236}">
                <a16:creationId xmlns:a16="http://schemas.microsoft.com/office/drawing/2014/main" id="{DE5834CE-0092-5A78-D7AB-5FD035B6569A}"/>
              </a:ext>
            </a:extLst>
          </p:cNvPr>
          <p:cNvSpPr/>
          <p:nvPr/>
        </p:nvSpPr>
        <p:spPr>
          <a:xfrm>
            <a:off x="9740766" y="2935705"/>
            <a:ext cx="240632" cy="192506"/>
          </a:xfrm>
          <a:custGeom>
            <a:avLst/>
            <a:gdLst>
              <a:gd name="csX0" fmla="*/ 0 w 240632"/>
              <a:gd name="csY0" fmla="*/ 192506 h 192506"/>
              <a:gd name="csX1" fmla="*/ 57752 w 240632"/>
              <a:gd name="csY1" fmla="*/ 57752 h 192506"/>
              <a:gd name="csX2" fmla="*/ 240632 w 240632"/>
              <a:gd name="csY2" fmla="*/ 0 h 192506"/>
            </a:gdLst>
            <a:ahLst/>
            <a:cxnLst>
              <a:cxn ang="0">
                <a:pos x="csX0" y="csY0"/>
              </a:cxn>
              <a:cxn ang="0">
                <a:pos x="csX1" y="csY1"/>
              </a:cxn>
              <a:cxn ang="0">
                <a:pos x="csX2" y="csY2"/>
              </a:cxn>
            </a:cxnLst>
            <a:rect l="l" t="t" r="r" b="b"/>
            <a:pathLst>
              <a:path w="240632" h="192506">
                <a:moveTo>
                  <a:pt x="0" y="192506"/>
                </a:moveTo>
                <a:cubicBezTo>
                  <a:pt x="8823" y="141171"/>
                  <a:pt x="17647" y="89836"/>
                  <a:pt x="57752" y="57752"/>
                </a:cubicBezTo>
                <a:cubicBezTo>
                  <a:pt x="97857" y="25668"/>
                  <a:pt x="169244" y="12834"/>
                  <a:pt x="240632" y="0"/>
                </a:cubicBezTo>
              </a:path>
            </a:pathLst>
          </a:cu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0F1CACA1-361D-F3A6-B2C1-3C35D88E750F}"/>
                  </a:ext>
                </a:extLst>
              </p:cNvPr>
              <p:cNvSpPr txBox="1"/>
              <p:nvPr/>
            </p:nvSpPr>
            <p:spPr>
              <a:xfrm>
                <a:off x="8482989" y="3670130"/>
                <a:ext cx="2902846" cy="47243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𝑑𝑥</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𝑘</m:t>
                          </m:r>
                        </m:e>
                      </m:d>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𝑅</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𝑘</m:t>
                          </m:r>
                        </m:e>
                      </m:d>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𝑑𝐻𝐷𝐺</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𝑘</m:t>
                          </m:r>
                        </m:e>
                      </m:d>
                      <m:r>
                        <a:rPr lang="en-US" b="0" i="1" smtClean="0">
                          <a:solidFill>
                            <a:srgbClr val="FF0000"/>
                          </a:solidFill>
                          <a:latin typeface="Cambria Math" panose="02040503050406030204" pitchFamily="18" charset="0"/>
                        </a:rPr>
                        <m:t>  </m:t>
                      </m:r>
                      <m:f>
                        <m:fPr>
                          <m:ctrlPr>
                            <a:rPr lang="en-US" b="0" i="1" smtClean="0">
                              <a:solidFill>
                                <a:srgbClr val="FF0000"/>
                              </a:solidFill>
                              <a:latin typeface="Cambria Math" panose="02040503050406030204" pitchFamily="18" charset="0"/>
                            </a:rPr>
                          </m:ctrlPr>
                        </m:fPr>
                        <m:num>
                          <m:r>
                            <m:rPr>
                              <m:lit/>
                            </m:rP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𝜋</m:t>
                          </m:r>
                        </m:num>
                        <m:den>
                          <m:r>
                            <a:rPr lang="en-US" b="0" i="1" smtClean="0">
                              <a:solidFill>
                                <a:srgbClr val="FF0000"/>
                              </a:solidFill>
                              <a:latin typeface="Cambria Math" panose="02040503050406030204" pitchFamily="18" charset="0"/>
                            </a:rPr>
                            <m:t>180</m:t>
                          </m:r>
                        </m:den>
                      </m:f>
                    </m:oMath>
                  </m:oMathPara>
                </a14:m>
                <a:endParaRPr lang="en-US" dirty="0">
                  <a:solidFill>
                    <a:srgbClr val="FF0000"/>
                  </a:solidFill>
                </a:endParaRPr>
              </a:p>
            </p:txBody>
          </p:sp>
        </mc:Choice>
        <mc:Fallback>
          <p:sp>
            <p:nvSpPr>
              <p:cNvPr id="39" name="TextBox 38">
                <a:extLst>
                  <a:ext uri="{FF2B5EF4-FFF2-40B4-BE49-F238E27FC236}">
                    <a16:creationId xmlns:a16="http://schemas.microsoft.com/office/drawing/2014/main" id="{0F1CACA1-361D-F3A6-B2C1-3C35D88E750F}"/>
                  </a:ext>
                </a:extLst>
              </p:cNvPr>
              <p:cNvSpPr txBox="1">
                <a:spLocks noRot="1" noChangeAspect="1" noMove="1" noResize="1" noEditPoints="1" noAdjustHandles="1" noChangeArrowheads="1" noChangeShapeType="1" noTextEdit="1"/>
              </p:cNvSpPr>
              <p:nvPr/>
            </p:nvSpPr>
            <p:spPr>
              <a:xfrm>
                <a:off x="8482989" y="3670130"/>
                <a:ext cx="2902846" cy="472437"/>
              </a:xfrm>
              <a:prstGeom prst="rect">
                <a:avLst/>
              </a:prstGeom>
              <a:blipFill>
                <a:blip r:embed="rId22"/>
                <a:stretch>
                  <a:fillRect/>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3EA746A6-87FB-EEC0-0CB5-07911B652317}"/>
              </a:ext>
            </a:extLst>
          </p:cNvPr>
          <p:cNvSpPr txBox="1"/>
          <p:nvPr/>
        </p:nvSpPr>
        <p:spPr>
          <a:xfrm>
            <a:off x="990600" y="4724400"/>
            <a:ext cx="1619995" cy="369332"/>
          </a:xfrm>
          <a:prstGeom prst="rect">
            <a:avLst/>
          </a:prstGeom>
          <a:noFill/>
        </p:spPr>
        <p:txBody>
          <a:bodyPr wrap="none" rtlCol="0">
            <a:spAutoFit/>
          </a:bodyPr>
          <a:lstStyle/>
          <a:p>
            <a:r>
              <a:rPr lang="en-US" b="1" u="sng" dirty="0"/>
              <a:t>For both cases:</a:t>
            </a:r>
          </a:p>
        </p:txBody>
      </p:sp>
    </p:spTree>
    <p:extLst>
      <p:ext uri="{BB962C8B-B14F-4D97-AF65-F5344CB8AC3E}">
        <p14:creationId xmlns:p14="http://schemas.microsoft.com/office/powerpoint/2010/main" val="1367432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154AB-0C8E-6FCA-9662-729BCF473B0B}"/>
              </a:ext>
            </a:extLst>
          </p:cNvPr>
          <p:cNvSpPr>
            <a:spLocks noGrp="1"/>
          </p:cNvSpPr>
          <p:nvPr>
            <p:ph type="title"/>
          </p:nvPr>
        </p:nvSpPr>
        <p:spPr/>
        <p:txBody>
          <a:bodyPr>
            <a:normAutofit fontScale="90000"/>
          </a:bodyPr>
          <a:lstStyle/>
          <a:p>
            <a:r>
              <a:rPr lang="en-US" dirty="0"/>
              <a:t>Part A: Develop Aircraft Performance Evaluator Function [20 points]</a:t>
            </a:r>
          </a:p>
        </p:txBody>
      </p:sp>
      <p:sp>
        <p:nvSpPr>
          <p:cNvPr id="3" name="Content Placeholder 2">
            <a:extLst>
              <a:ext uri="{FF2B5EF4-FFF2-40B4-BE49-F238E27FC236}">
                <a16:creationId xmlns:a16="http://schemas.microsoft.com/office/drawing/2014/main" id="{F04C2E0A-F846-14B5-B3B6-2C1DF0126550}"/>
              </a:ext>
            </a:extLst>
          </p:cNvPr>
          <p:cNvSpPr>
            <a:spLocks noGrp="1"/>
          </p:cNvSpPr>
          <p:nvPr>
            <p:ph idx="1"/>
          </p:nvPr>
        </p:nvSpPr>
        <p:spPr/>
        <p:txBody>
          <a:bodyPr>
            <a:normAutofit lnSpcReduction="10000"/>
          </a:bodyPr>
          <a:lstStyle/>
          <a:p>
            <a:r>
              <a:rPr lang="en-US" dirty="0"/>
              <a:t>Here is the input/output form of the function call</a:t>
            </a:r>
          </a:p>
          <a:p>
            <a:pPr lvl="1"/>
            <a:r>
              <a:rPr lang="en-US" b="1" dirty="0"/>
              <a:t>[</a:t>
            </a:r>
            <a:r>
              <a:rPr lang="en-US" b="1" dirty="0" err="1"/>
              <a:t>dhdt</a:t>
            </a:r>
            <a:r>
              <a:rPr lang="en-US" b="1" dirty="0"/>
              <a:t>, </a:t>
            </a:r>
            <a:r>
              <a:rPr lang="en-US" b="1" dirty="0" err="1"/>
              <a:t>dVdt</a:t>
            </a:r>
            <a:r>
              <a:rPr lang="en-US" b="1" dirty="0"/>
              <a:t>, n, CL, R, PSIDOT] = </a:t>
            </a:r>
            <a:r>
              <a:rPr lang="en-US" b="1" dirty="0" err="1"/>
              <a:t>CalcAircraftPerf</a:t>
            </a:r>
            <a:r>
              <a:rPr lang="en-US" b="1" dirty="0"/>
              <a:t>(V, P, FPA, PHI, rho, AC)</a:t>
            </a:r>
          </a:p>
          <a:p>
            <a:pPr lvl="1"/>
            <a:r>
              <a:rPr lang="en-US" dirty="0"/>
              <a:t>Notice that each output from the function is one of the columns of the table that you must fill out</a:t>
            </a:r>
          </a:p>
          <a:p>
            <a:pPr lvl="1"/>
            <a:endParaRPr lang="en-US" b="1" dirty="0"/>
          </a:p>
          <a:p>
            <a:pPr lvl="1"/>
            <a:r>
              <a:rPr lang="en-US" b="1" dirty="0"/>
              <a:t>Outputs:</a:t>
            </a:r>
          </a:p>
          <a:p>
            <a:pPr lvl="2"/>
            <a:r>
              <a:rPr lang="en-US" dirty="0" err="1"/>
              <a:t>dhdt</a:t>
            </a:r>
            <a:r>
              <a:rPr lang="en-US" dirty="0"/>
              <a:t>: rate of climb [m/s]</a:t>
            </a:r>
          </a:p>
          <a:p>
            <a:pPr lvl="2"/>
            <a:r>
              <a:rPr lang="en-US" dirty="0" err="1"/>
              <a:t>dVdt</a:t>
            </a:r>
            <a:r>
              <a:rPr lang="en-US" dirty="0"/>
              <a:t>: acceleration [m/s</a:t>
            </a:r>
            <a:r>
              <a:rPr lang="en-US" baseline="30000" dirty="0"/>
              <a:t>2</a:t>
            </a:r>
            <a:r>
              <a:rPr lang="en-US" dirty="0"/>
              <a:t>]</a:t>
            </a:r>
          </a:p>
          <a:p>
            <a:pPr lvl="2"/>
            <a:r>
              <a:rPr lang="en-US" dirty="0"/>
              <a:t>n: load factor</a:t>
            </a:r>
          </a:p>
          <a:p>
            <a:pPr lvl="2"/>
            <a:r>
              <a:rPr lang="en-US" dirty="0"/>
              <a:t>CL: lift coefficient</a:t>
            </a:r>
          </a:p>
          <a:p>
            <a:pPr lvl="2"/>
            <a:r>
              <a:rPr lang="en-US" dirty="0"/>
              <a:t>R: turn radius [m] – if going in a straight line, output inf (infinity)</a:t>
            </a:r>
          </a:p>
          <a:p>
            <a:pPr lvl="2"/>
            <a:r>
              <a:rPr lang="en-US" dirty="0"/>
              <a:t>PSIDOT: turn rate [deg/s]</a:t>
            </a:r>
          </a:p>
          <a:p>
            <a:pPr lvl="2"/>
            <a:endParaRPr lang="en-US" dirty="0"/>
          </a:p>
          <a:p>
            <a:pPr lvl="1"/>
            <a:r>
              <a:rPr lang="en-US" b="1" dirty="0"/>
              <a:t>Inputs:</a:t>
            </a:r>
          </a:p>
          <a:p>
            <a:pPr lvl="2"/>
            <a:r>
              <a:rPr lang="en-US" dirty="0"/>
              <a:t>V: airspeed [m/s]</a:t>
            </a:r>
          </a:p>
          <a:p>
            <a:pPr lvl="2"/>
            <a:r>
              <a:rPr lang="en-US" dirty="0"/>
              <a:t>P: motor shaft-power [W]</a:t>
            </a:r>
          </a:p>
          <a:p>
            <a:pPr lvl="2"/>
            <a:r>
              <a:rPr lang="en-US" dirty="0"/>
              <a:t>FPA: flightpath angle [deg]</a:t>
            </a:r>
          </a:p>
          <a:p>
            <a:pPr lvl="2"/>
            <a:r>
              <a:rPr lang="en-US" dirty="0"/>
              <a:t>PHI: bank angle [deg]</a:t>
            </a:r>
          </a:p>
          <a:p>
            <a:pPr lvl="2"/>
            <a:r>
              <a:rPr lang="en-US" dirty="0"/>
              <a:t>rho: air density [kg/m</a:t>
            </a:r>
            <a:r>
              <a:rPr lang="en-US" baseline="30000" dirty="0"/>
              <a:t>3</a:t>
            </a:r>
            <a:r>
              <a:rPr lang="en-US" dirty="0"/>
              <a:t>]</a:t>
            </a:r>
          </a:p>
          <a:p>
            <a:pPr lvl="2"/>
            <a:r>
              <a:rPr lang="en-US" dirty="0"/>
              <a:t>AC: structure containing aircraft data (see </a:t>
            </a:r>
            <a:r>
              <a:rPr lang="en-US" dirty="0">
                <a:sym typeface="Wingdings" panose="05000000000000000000" pitchFamily="2" charset="2"/>
              </a:rPr>
              <a:t> and get values from slide 6)</a:t>
            </a:r>
            <a:endParaRPr lang="en-US" dirty="0"/>
          </a:p>
          <a:p>
            <a:pPr lvl="1"/>
            <a:endParaRPr lang="en-US" dirty="0"/>
          </a:p>
        </p:txBody>
      </p:sp>
      <p:sp>
        <p:nvSpPr>
          <p:cNvPr id="4" name="Slide Number Placeholder 3">
            <a:extLst>
              <a:ext uri="{FF2B5EF4-FFF2-40B4-BE49-F238E27FC236}">
                <a16:creationId xmlns:a16="http://schemas.microsoft.com/office/drawing/2014/main" id="{F84039C7-CDBE-536E-FEC0-1ACBBD02FA73}"/>
              </a:ext>
            </a:extLst>
          </p:cNvPr>
          <p:cNvSpPr>
            <a:spLocks noGrp="1"/>
          </p:cNvSpPr>
          <p:nvPr>
            <p:ph type="sldNum" sz="quarter" idx="12"/>
          </p:nvPr>
        </p:nvSpPr>
        <p:spPr/>
        <p:txBody>
          <a:bodyPr/>
          <a:lstStyle/>
          <a:p>
            <a:fld id="{30B9F9C1-6AA3-4836-B413-85EA651AECDC}" type="slidenum">
              <a:rPr lang="en-US" smtClean="0"/>
              <a:t>4</a:t>
            </a:fld>
            <a:endParaRPr lang="en-US"/>
          </a:p>
        </p:txBody>
      </p:sp>
      <p:pic>
        <p:nvPicPr>
          <p:cNvPr id="6" name="Picture 5">
            <a:extLst>
              <a:ext uri="{FF2B5EF4-FFF2-40B4-BE49-F238E27FC236}">
                <a16:creationId xmlns:a16="http://schemas.microsoft.com/office/drawing/2014/main" id="{8272B85D-3A9D-F2A4-B3D9-92EF825EADA0}"/>
              </a:ext>
            </a:extLst>
          </p:cNvPr>
          <p:cNvPicPr>
            <a:picLocks noChangeAspect="1"/>
          </p:cNvPicPr>
          <p:nvPr/>
        </p:nvPicPr>
        <p:blipFill>
          <a:blip r:embed="rId2"/>
          <a:stretch>
            <a:fillRect/>
          </a:stretch>
        </p:blipFill>
        <p:spPr>
          <a:xfrm>
            <a:off x="10134600" y="4191000"/>
            <a:ext cx="1733792" cy="2152950"/>
          </a:xfrm>
          <a:prstGeom prst="rect">
            <a:avLst/>
          </a:prstGeom>
        </p:spPr>
      </p:pic>
      <p:sp>
        <p:nvSpPr>
          <p:cNvPr id="7" name="TextBox 6">
            <a:extLst>
              <a:ext uri="{FF2B5EF4-FFF2-40B4-BE49-F238E27FC236}">
                <a16:creationId xmlns:a16="http://schemas.microsoft.com/office/drawing/2014/main" id="{1D4B6220-68AB-A60D-6C58-126599851C17}"/>
              </a:ext>
            </a:extLst>
          </p:cNvPr>
          <p:cNvSpPr txBox="1"/>
          <p:nvPr/>
        </p:nvSpPr>
        <p:spPr>
          <a:xfrm>
            <a:off x="8016012" y="1808778"/>
            <a:ext cx="3981676" cy="1600438"/>
          </a:xfrm>
          <a:prstGeom prst="rect">
            <a:avLst/>
          </a:prstGeom>
          <a:solidFill>
            <a:srgbClr val="FFFF00"/>
          </a:solidFill>
          <a:ln>
            <a:solidFill>
              <a:schemeClr val="accent1">
                <a:shade val="15000"/>
              </a:schemeClr>
            </a:solidFill>
          </a:ln>
        </p:spPr>
        <p:txBody>
          <a:bodyPr wrap="square" rtlCol="0">
            <a:spAutoFit/>
          </a:bodyPr>
          <a:lstStyle/>
          <a:p>
            <a:r>
              <a:rPr lang="en-US" sz="1400" b="1" dirty="0"/>
              <a:t>Concepts needed to create this function:</a:t>
            </a:r>
          </a:p>
          <a:p>
            <a:pPr marL="285750" indent="-285750">
              <a:buFontTx/>
              <a:buChar char="-"/>
            </a:pPr>
            <a:r>
              <a:rPr lang="en-US" sz="1400" dirty="0"/>
              <a:t>Excess power perf analysis for prop aircraft</a:t>
            </a:r>
          </a:p>
          <a:p>
            <a:pPr marL="285750" indent="-285750">
              <a:buFontTx/>
              <a:buChar char="-"/>
            </a:pPr>
            <a:r>
              <a:rPr lang="en-US" sz="1400" dirty="0"/>
              <a:t>Relationships between radius, turn rate, bank angle, and load factor</a:t>
            </a:r>
          </a:p>
          <a:p>
            <a:pPr marL="285750" indent="-285750">
              <a:buFontTx/>
              <a:buChar char="-"/>
            </a:pPr>
            <a:r>
              <a:rPr lang="en-US" sz="1400" dirty="0"/>
              <a:t>Relationships between climb rate, airspeed, and flightpath angle</a:t>
            </a:r>
          </a:p>
          <a:p>
            <a:pPr marL="285750" indent="-285750">
              <a:buFontTx/>
              <a:buChar char="-"/>
            </a:pPr>
            <a:r>
              <a:rPr lang="en-US" sz="1400" dirty="0"/>
              <a:t>Basic forward Euler integration</a:t>
            </a:r>
          </a:p>
        </p:txBody>
      </p:sp>
    </p:spTree>
    <p:extLst>
      <p:ext uri="{BB962C8B-B14F-4D97-AF65-F5344CB8AC3E}">
        <p14:creationId xmlns:p14="http://schemas.microsoft.com/office/powerpoint/2010/main" val="3797588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CB39F-77DE-B584-D596-634D77CC572D}"/>
              </a:ext>
            </a:extLst>
          </p:cNvPr>
          <p:cNvSpPr>
            <a:spLocks noGrp="1"/>
          </p:cNvSpPr>
          <p:nvPr>
            <p:ph type="title"/>
          </p:nvPr>
        </p:nvSpPr>
        <p:spPr/>
        <p:txBody>
          <a:bodyPr>
            <a:normAutofit fontScale="90000"/>
          </a:bodyPr>
          <a:lstStyle/>
          <a:p>
            <a:r>
              <a:rPr lang="en-US" dirty="0"/>
              <a:t>Analyze Lap Performance for the Following Scenarios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AE37D2A-522E-042D-6EAF-FE6C3AE818E1}"/>
                  </a:ext>
                </a:extLst>
              </p:cNvPr>
              <p:cNvSpPr>
                <a:spLocks noGrp="1"/>
              </p:cNvSpPr>
              <p:nvPr>
                <p:ph idx="1"/>
              </p:nvPr>
            </p:nvSpPr>
            <p:spPr/>
            <p:txBody>
              <a:bodyPr>
                <a:noAutofit/>
              </a:bodyPr>
              <a:lstStyle/>
              <a:p>
                <a:pPr>
                  <a:spcBef>
                    <a:spcPts val="600"/>
                  </a:spcBef>
                  <a:spcAft>
                    <a:spcPts val="400"/>
                  </a:spcAft>
                </a:pPr>
                <a:r>
                  <a:rPr lang="en-US" sz="1600" b="1" dirty="0"/>
                  <a:t>Notes regarding bank angles:</a:t>
                </a:r>
              </a:p>
              <a:p>
                <a:pPr lvl="1">
                  <a:spcBef>
                    <a:spcPts val="0"/>
                  </a:spcBef>
                </a:pPr>
                <a:r>
                  <a:rPr lang="en-US" sz="1600" dirty="0"/>
                  <a:t>For simplicity, the same bank angle magnitude is to be used in all three turning segments</a:t>
                </a:r>
              </a:p>
              <a:p>
                <a:pPr lvl="1">
                  <a:spcBef>
                    <a:spcPts val="0"/>
                  </a:spcBef>
                </a:pPr>
                <a:r>
                  <a:rPr lang="en-US" sz="1600" dirty="0"/>
                  <a:t>For turns C1 and C3 (180 deg turns), the bank angle is positive. For turn C2 (360 deg turn), bank angle is negative</a:t>
                </a:r>
                <a:endParaRPr lang="en-US" sz="1600" b="1" dirty="0"/>
              </a:p>
              <a:p>
                <a:pPr>
                  <a:spcBef>
                    <a:spcPts val="1200"/>
                  </a:spcBef>
                  <a:spcAft>
                    <a:spcPts val="400"/>
                  </a:spcAft>
                </a:pPr>
                <a:r>
                  <a:rPr lang="en-US" sz="1600" b="1" dirty="0"/>
                  <a:t>Part B (20 points):</a:t>
                </a:r>
                <a:r>
                  <a:rPr lang="en-US" sz="1600" dirty="0"/>
                  <a:t> Just set up a basic lap with a 45 deg bank in all turns. You are not trying to minimize lap time here. See table on following slide for weight and drag</a:t>
                </a:r>
              </a:p>
              <a:p>
                <a:pPr>
                  <a:spcBef>
                    <a:spcPts val="1200"/>
                  </a:spcBef>
                  <a:spcAft>
                    <a:spcPts val="400"/>
                  </a:spcAft>
                </a:pPr>
                <a:r>
                  <a:rPr lang="en-US" sz="1600" b="1" dirty="0"/>
                  <a:t>Part C (20 points):</a:t>
                </a:r>
                <a:r>
                  <a:rPr lang="en-US" sz="1600" dirty="0"/>
                  <a:t> Try to minimize the lap time by banking more aggressively. See table on following slide for weight and drag </a:t>
                </a:r>
              </a:p>
              <a:p>
                <a:pPr lvl="1">
                  <a:spcBef>
                    <a:spcPts val="600"/>
                  </a:spcBef>
                </a:pPr>
                <a:r>
                  <a:rPr lang="en-US" sz="1600" b="1" dirty="0"/>
                  <a:t>Constraint 1:</a:t>
                </a:r>
                <a:r>
                  <a:rPr lang="en-US" sz="1600" dirty="0"/>
                  <a:t> To maintain stall margin, do not allow the lift coefficient CL to ever exceed a value of </a:t>
                </a:r>
                <a14:m>
                  <m:oMath xmlns:m="http://schemas.openxmlformats.org/officeDocument/2006/math">
                    <m:sSubSup>
                      <m:sSubSupPr>
                        <m:ctrlPr>
                          <a:rPr lang="en-US" sz="1600" b="1" i="1">
                            <a:latin typeface="Cambria Math" panose="02040503050406030204" pitchFamily="18" charset="0"/>
                          </a:rPr>
                        </m:ctrlPr>
                      </m:sSubSupPr>
                      <m:e>
                        <m:r>
                          <a:rPr lang="en-US" sz="1600" b="1" i="1">
                            <a:latin typeface="Cambria Math" panose="02040503050406030204" pitchFamily="18" charset="0"/>
                          </a:rPr>
                          <m:t>𝟏</m:t>
                        </m:r>
                        <m:r>
                          <a:rPr lang="en-US" sz="1600" b="1" i="1" smtClean="0">
                            <a:latin typeface="Cambria Math" panose="02040503050406030204" pitchFamily="18" charset="0"/>
                          </a:rPr>
                          <m:t>.</m:t>
                        </m:r>
                        <m:r>
                          <a:rPr lang="en-US" sz="1600" b="1" i="1">
                            <a:latin typeface="Cambria Math" panose="02040503050406030204" pitchFamily="18" charset="0"/>
                          </a:rPr>
                          <m:t>𝟓</m:t>
                        </m:r>
                      </m:e>
                      <m:sub>
                        <m:r>
                          <a:rPr lang="en-US" sz="1600" b="1" i="1">
                            <a:latin typeface="Cambria Math" panose="02040503050406030204" pitchFamily="18" charset="0"/>
                          </a:rPr>
                          <m:t>−</m:t>
                        </m:r>
                        <m:r>
                          <a:rPr lang="en-US" sz="1600" b="1" i="1">
                            <a:latin typeface="Cambria Math" panose="02040503050406030204" pitchFamily="18" charset="0"/>
                          </a:rPr>
                          <m:t>𝟎</m:t>
                        </m:r>
                        <m:r>
                          <a:rPr lang="en-US" sz="1600" b="1" i="1">
                            <a:latin typeface="Cambria Math" panose="02040503050406030204" pitchFamily="18" charset="0"/>
                          </a:rPr>
                          <m:t>.</m:t>
                        </m:r>
                        <m:r>
                          <a:rPr lang="en-US" sz="1600" b="1" i="1">
                            <a:latin typeface="Cambria Math" panose="02040503050406030204" pitchFamily="18" charset="0"/>
                          </a:rPr>
                          <m:t>𝟎𝟏</m:t>
                        </m:r>
                      </m:sub>
                      <m:sup>
                        <m:r>
                          <a:rPr lang="en-US" sz="1600" b="1" i="1">
                            <a:latin typeface="Cambria Math" panose="02040503050406030204" pitchFamily="18" charset="0"/>
                          </a:rPr>
                          <m:t>+</m:t>
                        </m:r>
                        <m:r>
                          <a:rPr lang="en-US" sz="1600" b="1" i="1">
                            <a:latin typeface="Cambria Math" panose="02040503050406030204" pitchFamily="18" charset="0"/>
                          </a:rPr>
                          <m:t>𝟎</m:t>
                        </m:r>
                        <m:r>
                          <a:rPr lang="en-US" sz="1600" b="1" i="1">
                            <a:latin typeface="Cambria Math" panose="02040503050406030204" pitchFamily="18" charset="0"/>
                          </a:rPr>
                          <m:t>.</m:t>
                        </m:r>
                        <m:r>
                          <a:rPr lang="en-US" sz="1600" b="1" i="1" smtClean="0">
                            <a:latin typeface="Cambria Math" panose="02040503050406030204" pitchFamily="18" charset="0"/>
                          </a:rPr>
                          <m:t>𝟎𝟏</m:t>
                        </m:r>
                      </m:sup>
                    </m:sSubSup>
                  </m:oMath>
                </a14:m>
                <a:r>
                  <a:rPr lang="en-US" sz="1600" b="1" dirty="0"/>
                  <a:t>!</a:t>
                </a:r>
              </a:p>
              <a:p>
                <a:pPr lvl="1">
                  <a:spcBef>
                    <a:spcPts val="600"/>
                  </a:spcBef>
                </a:pPr>
                <a:r>
                  <a:rPr lang="en-US" sz="1600" b="1" dirty="0"/>
                  <a:t>Constraint 2: </a:t>
                </a:r>
                <a:r>
                  <a:rPr lang="en-US" sz="1600" dirty="0"/>
                  <a:t>Maintain constant 50 m altitude throughout</a:t>
                </a:r>
              </a:p>
              <a:p>
                <a:pPr>
                  <a:spcBef>
                    <a:spcPts val="1200"/>
                  </a:spcBef>
                  <a:spcAft>
                    <a:spcPts val="400"/>
                  </a:spcAft>
                </a:pPr>
                <a:r>
                  <a:rPr lang="en-US" sz="1600" b="1" dirty="0"/>
                  <a:t>Part D (20 points):</a:t>
                </a:r>
                <a:r>
                  <a:rPr lang="en-US" sz="1600" dirty="0"/>
                  <a:t> The aircraft is now heavier and draggier due to payload. See table on following slide for weight and drag. </a:t>
                </a:r>
                <a:br>
                  <a:rPr lang="en-US" sz="1600" dirty="0"/>
                </a:br>
                <a:r>
                  <a:rPr lang="en-US" sz="1600" dirty="0"/>
                  <a:t>Once again, vary the bank angle to minimize the lap time. </a:t>
                </a:r>
              </a:p>
              <a:p>
                <a:pPr lvl="1">
                  <a:spcBef>
                    <a:spcPts val="600"/>
                  </a:spcBef>
                </a:pPr>
                <a:r>
                  <a:rPr lang="en-US" sz="1600" b="1" dirty="0"/>
                  <a:t>Constraint 1:</a:t>
                </a:r>
                <a:r>
                  <a:rPr lang="en-US" sz="1600" dirty="0"/>
                  <a:t> To maintain stall margin, do not allow the lift coefficient CL to ever exceed a value of </a:t>
                </a:r>
                <a14:m>
                  <m:oMath xmlns:m="http://schemas.openxmlformats.org/officeDocument/2006/math">
                    <m:sSubSup>
                      <m:sSubSupPr>
                        <m:ctrlPr>
                          <a:rPr lang="en-US" sz="1600" b="1" i="1">
                            <a:latin typeface="Cambria Math" panose="02040503050406030204" pitchFamily="18" charset="0"/>
                          </a:rPr>
                        </m:ctrlPr>
                      </m:sSubSupPr>
                      <m:e>
                        <m:r>
                          <a:rPr lang="en-US" sz="1600" b="1" i="1">
                            <a:latin typeface="Cambria Math" panose="02040503050406030204" pitchFamily="18" charset="0"/>
                          </a:rPr>
                          <m:t>𝟏</m:t>
                        </m:r>
                        <m:r>
                          <a:rPr lang="en-US" sz="1600" b="1" i="1">
                            <a:latin typeface="Cambria Math" panose="02040503050406030204" pitchFamily="18" charset="0"/>
                          </a:rPr>
                          <m:t>.</m:t>
                        </m:r>
                        <m:r>
                          <a:rPr lang="en-US" sz="1600" b="1" i="1">
                            <a:latin typeface="Cambria Math" panose="02040503050406030204" pitchFamily="18" charset="0"/>
                          </a:rPr>
                          <m:t>𝟓</m:t>
                        </m:r>
                      </m:e>
                      <m:sub>
                        <m:r>
                          <a:rPr lang="en-US" sz="1600" b="1" i="1">
                            <a:latin typeface="Cambria Math" panose="02040503050406030204" pitchFamily="18" charset="0"/>
                          </a:rPr>
                          <m:t>−</m:t>
                        </m:r>
                        <m:r>
                          <a:rPr lang="en-US" sz="1600" b="1" i="1">
                            <a:latin typeface="Cambria Math" panose="02040503050406030204" pitchFamily="18" charset="0"/>
                          </a:rPr>
                          <m:t>𝟎</m:t>
                        </m:r>
                        <m:r>
                          <a:rPr lang="en-US" sz="1600" b="1" i="1">
                            <a:latin typeface="Cambria Math" panose="02040503050406030204" pitchFamily="18" charset="0"/>
                          </a:rPr>
                          <m:t>.</m:t>
                        </m:r>
                        <m:r>
                          <a:rPr lang="en-US" sz="1600" b="1" i="1">
                            <a:latin typeface="Cambria Math" panose="02040503050406030204" pitchFamily="18" charset="0"/>
                          </a:rPr>
                          <m:t>𝟎𝟏</m:t>
                        </m:r>
                      </m:sub>
                      <m:sup>
                        <m:r>
                          <a:rPr lang="en-US" sz="1600" b="1" i="1">
                            <a:latin typeface="Cambria Math" panose="02040503050406030204" pitchFamily="18" charset="0"/>
                          </a:rPr>
                          <m:t>+</m:t>
                        </m:r>
                        <m:r>
                          <a:rPr lang="en-US" sz="1600" b="1" i="1">
                            <a:latin typeface="Cambria Math" panose="02040503050406030204" pitchFamily="18" charset="0"/>
                          </a:rPr>
                          <m:t>𝟎</m:t>
                        </m:r>
                        <m:r>
                          <a:rPr lang="en-US" sz="1600" b="1" i="1">
                            <a:latin typeface="Cambria Math" panose="02040503050406030204" pitchFamily="18" charset="0"/>
                          </a:rPr>
                          <m:t>.</m:t>
                        </m:r>
                        <m:r>
                          <a:rPr lang="en-US" sz="1600" b="1" i="1">
                            <a:latin typeface="Cambria Math" panose="02040503050406030204" pitchFamily="18" charset="0"/>
                          </a:rPr>
                          <m:t>𝟎𝟏</m:t>
                        </m:r>
                      </m:sup>
                    </m:sSubSup>
                  </m:oMath>
                </a14:m>
                <a:r>
                  <a:rPr lang="en-US" sz="1600" b="1" dirty="0"/>
                  <a:t>!</a:t>
                </a:r>
              </a:p>
              <a:p>
                <a:pPr lvl="1">
                  <a:spcBef>
                    <a:spcPts val="600"/>
                  </a:spcBef>
                </a:pPr>
                <a:r>
                  <a:rPr lang="en-US" sz="1600" b="1" dirty="0"/>
                  <a:t>Constraint 2: </a:t>
                </a:r>
                <a:r>
                  <a:rPr lang="en-US" sz="1600" dirty="0"/>
                  <a:t>Maintain constant 50 m altitude throughout</a:t>
                </a:r>
              </a:p>
              <a:p>
                <a:pPr>
                  <a:spcBef>
                    <a:spcPts val="1200"/>
                  </a:spcBef>
                  <a:spcAft>
                    <a:spcPts val="400"/>
                  </a:spcAft>
                </a:pPr>
                <a:r>
                  <a:rPr lang="en-US" sz="1600" b="1" dirty="0"/>
                  <a:t>Part E  (20 points):</a:t>
                </a:r>
                <a:r>
                  <a:rPr lang="en-US" sz="1600" dirty="0"/>
                  <a:t> You are flying the heavier, draggier configuration once again. You try to shave off some lap time by diving during segments C2, S3, C4, and S4. The dive angle is your choice but is held constant through these segments. Vary the bank angle and dive angle to minimize the lap time, subject to the following constraints:</a:t>
                </a:r>
              </a:p>
              <a:p>
                <a:pPr lvl="1">
                  <a:spcBef>
                    <a:spcPts val="600"/>
                  </a:spcBef>
                </a:pPr>
                <a:r>
                  <a:rPr lang="en-US" sz="1600" b="1" dirty="0"/>
                  <a:t>Constraint 1:</a:t>
                </a:r>
                <a:r>
                  <a:rPr lang="en-US" sz="1600" dirty="0"/>
                  <a:t> To maintain stall margin, do not allow the lift coefficient CL to ever exceed a value of </a:t>
                </a:r>
                <a14:m>
                  <m:oMath xmlns:m="http://schemas.openxmlformats.org/officeDocument/2006/math">
                    <m:sSubSup>
                      <m:sSubSupPr>
                        <m:ctrlPr>
                          <a:rPr lang="en-US" sz="1600" b="1" i="1">
                            <a:latin typeface="Cambria Math" panose="02040503050406030204" pitchFamily="18" charset="0"/>
                          </a:rPr>
                        </m:ctrlPr>
                      </m:sSubSupPr>
                      <m:e>
                        <m:r>
                          <a:rPr lang="en-US" sz="1600" b="1" i="1">
                            <a:latin typeface="Cambria Math" panose="02040503050406030204" pitchFamily="18" charset="0"/>
                          </a:rPr>
                          <m:t>𝟏</m:t>
                        </m:r>
                        <m:r>
                          <a:rPr lang="en-US" sz="1600" b="1" i="1">
                            <a:latin typeface="Cambria Math" panose="02040503050406030204" pitchFamily="18" charset="0"/>
                          </a:rPr>
                          <m:t>.</m:t>
                        </m:r>
                        <m:r>
                          <a:rPr lang="en-US" sz="1600" b="1" i="1">
                            <a:latin typeface="Cambria Math" panose="02040503050406030204" pitchFamily="18" charset="0"/>
                          </a:rPr>
                          <m:t>𝟓</m:t>
                        </m:r>
                      </m:e>
                      <m:sub>
                        <m:r>
                          <a:rPr lang="en-US" sz="1600" b="1" i="1">
                            <a:latin typeface="Cambria Math" panose="02040503050406030204" pitchFamily="18" charset="0"/>
                          </a:rPr>
                          <m:t>−</m:t>
                        </m:r>
                        <m:r>
                          <a:rPr lang="en-US" sz="1600" b="1" i="1">
                            <a:latin typeface="Cambria Math" panose="02040503050406030204" pitchFamily="18" charset="0"/>
                          </a:rPr>
                          <m:t>𝟎</m:t>
                        </m:r>
                        <m:r>
                          <a:rPr lang="en-US" sz="1600" b="1" i="1">
                            <a:latin typeface="Cambria Math" panose="02040503050406030204" pitchFamily="18" charset="0"/>
                          </a:rPr>
                          <m:t>.</m:t>
                        </m:r>
                        <m:r>
                          <a:rPr lang="en-US" sz="1600" b="1" i="1">
                            <a:latin typeface="Cambria Math" panose="02040503050406030204" pitchFamily="18" charset="0"/>
                          </a:rPr>
                          <m:t>𝟎𝟏</m:t>
                        </m:r>
                      </m:sub>
                      <m:sup>
                        <m:r>
                          <a:rPr lang="en-US" sz="1600" b="1" i="1">
                            <a:latin typeface="Cambria Math" panose="02040503050406030204" pitchFamily="18" charset="0"/>
                          </a:rPr>
                          <m:t>+</m:t>
                        </m:r>
                        <m:r>
                          <a:rPr lang="en-US" sz="1600" b="1" i="1">
                            <a:latin typeface="Cambria Math" panose="02040503050406030204" pitchFamily="18" charset="0"/>
                          </a:rPr>
                          <m:t>𝟎</m:t>
                        </m:r>
                        <m:r>
                          <a:rPr lang="en-US" sz="1600" b="1" i="1">
                            <a:latin typeface="Cambria Math" panose="02040503050406030204" pitchFamily="18" charset="0"/>
                          </a:rPr>
                          <m:t>.</m:t>
                        </m:r>
                        <m:r>
                          <a:rPr lang="en-US" sz="1600" b="1" i="1">
                            <a:latin typeface="Cambria Math" panose="02040503050406030204" pitchFamily="18" charset="0"/>
                          </a:rPr>
                          <m:t>𝟎𝟏</m:t>
                        </m:r>
                      </m:sup>
                    </m:sSubSup>
                  </m:oMath>
                </a14:m>
                <a:r>
                  <a:rPr lang="en-US" sz="1600" b="1" dirty="0"/>
                  <a:t>!</a:t>
                </a:r>
              </a:p>
              <a:p>
                <a:pPr lvl="1">
                  <a:spcBef>
                    <a:spcPts val="600"/>
                  </a:spcBef>
                </a:pPr>
                <a:r>
                  <a:rPr lang="en-US" sz="1600" b="1" dirty="0"/>
                  <a:t>Constraint 2:</a:t>
                </a:r>
                <a:r>
                  <a:rPr lang="en-US" sz="1600" dirty="0"/>
                  <a:t> If you cross the finish line lower than 15 m altitude, the judges will disqualify you! Your tolerance is </a:t>
                </a:r>
                <a14:m>
                  <m:oMath xmlns:m="http://schemas.openxmlformats.org/officeDocument/2006/math">
                    <m:sSubSup>
                      <m:sSubSupPr>
                        <m:ctrlPr>
                          <a:rPr lang="en-US" sz="1600" b="1" i="1" smtClean="0">
                            <a:latin typeface="Cambria Math" panose="02040503050406030204" pitchFamily="18" charset="0"/>
                          </a:rPr>
                        </m:ctrlPr>
                      </m:sSubSupPr>
                      <m:e>
                        <m:r>
                          <a:rPr lang="en-US" sz="1600" b="1" i="1" smtClean="0">
                            <a:latin typeface="Cambria Math" panose="02040503050406030204" pitchFamily="18" charset="0"/>
                          </a:rPr>
                          <m:t>𝟏𝟓</m:t>
                        </m:r>
                      </m:e>
                      <m:sub>
                        <m:r>
                          <a:rPr lang="en-US" sz="1600" b="1" i="1" smtClean="0">
                            <a:latin typeface="Cambria Math" panose="02040503050406030204" pitchFamily="18" charset="0"/>
                          </a:rPr>
                          <m:t>−</m:t>
                        </m:r>
                        <m:r>
                          <a:rPr lang="en-US" sz="1600" b="1" i="1" smtClean="0">
                            <a:latin typeface="Cambria Math" panose="02040503050406030204" pitchFamily="18" charset="0"/>
                          </a:rPr>
                          <m:t>𝟎</m:t>
                        </m:r>
                        <m:r>
                          <a:rPr lang="en-US" sz="1600" b="1" i="1" smtClean="0">
                            <a:latin typeface="Cambria Math" panose="02040503050406030204" pitchFamily="18" charset="0"/>
                          </a:rPr>
                          <m:t>.</m:t>
                        </m:r>
                        <m:r>
                          <a:rPr lang="en-US" sz="1600" b="1" i="1" smtClean="0">
                            <a:latin typeface="Cambria Math" panose="02040503050406030204" pitchFamily="18" charset="0"/>
                          </a:rPr>
                          <m:t>𝟎</m:t>
                        </m:r>
                      </m:sub>
                      <m:sup>
                        <m:r>
                          <a:rPr lang="en-US" sz="1600" b="1" i="1" smtClean="0">
                            <a:latin typeface="Cambria Math" panose="02040503050406030204" pitchFamily="18" charset="0"/>
                          </a:rPr>
                          <m:t>+</m:t>
                        </m:r>
                        <m:r>
                          <a:rPr lang="en-US" sz="1600" b="1" i="1" smtClean="0">
                            <a:latin typeface="Cambria Math" panose="02040503050406030204" pitchFamily="18" charset="0"/>
                          </a:rPr>
                          <m:t>𝟎</m:t>
                        </m:r>
                        <m:r>
                          <a:rPr lang="en-US" sz="1600" b="1" i="1" smtClean="0">
                            <a:latin typeface="Cambria Math" panose="02040503050406030204" pitchFamily="18" charset="0"/>
                          </a:rPr>
                          <m:t>.</m:t>
                        </m:r>
                        <m:r>
                          <a:rPr lang="en-US" sz="1600" b="1" i="1" smtClean="0">
                            <a:latin typeface="Cambria Math" panose="02040503050406030204" pitchFamily="18" charset="0"/>
                          </a:rPr>
                          <m:t>𝟓</m:t>
                        </m:r>
                      </m:sup>
                    </m:sSubSup>
                    <m:r>
                      <a:rPr lang="en-US" sz="1600" b="1" i="1" smtClean="0">
                        <a:latin typeface="Cambria Math" panose="02040503050406030204" pitchFamily="18" charset="0"/>
                      </a:rPr>
                      <m:t> </m:t>
                    </m:r>
                  </m:oMath>
                </a14:m>
                <a:r>
                  <a:rPr lang="en-US" sz="1600" b="1" dirty="0"/>
                  <a:t>m</a:t>
                </a:r>
              </a:p>
              <a:p>
                <a:pPr>
                  <a:spcBef>
                    <a:spcPts val="1200"/>
                  </a:spcBef>
                  <a:spcAft>
                    <a:spcPts val="400"/>
                  </a:spcAft>
                </a:pPr>
                <a:r>
                  <a:rPr lang="en-US" sz="1600" b="1" dirty="0"/>
                  <a:t>For parts C, D, E, just optimize by hand through trial-and-error. There is no need to set up an optimizer or anything fancy</a:t>
                </a:r>
              </a:p>
            </p:txBody>
          </p:sp>
        </mc:Choice>
        <mc:Fallback>
          <p:sp>
            <p:nvSpPr>
              <p:cNvPr id="3" name="Content Placeholder 2">
                <a:extLst>
                  <a:ext uri="{FF2B5EF4-FFF2-40B4-BE49-F238E27FC236}">
                    <a16:creationId xmlns:a16="http://schemas.microsoft.com/office/drawing/2014/main" id="{FAE37D2A-522E-042D-6EAF-FE6C3AE818E1}"/>
                  </a:ext>
                </a:extLst>
              </p:cNvPr>
              <p:cNvSpPr>
                <a:spLocks noGrp="1" noRot="1" noChangeAspect="1" noMove="1" noResize="1" noEditPoints="1" noAdjustHandles="1" noChangeArrowheads="1" noChangeShapeType="1" noTextEdit="1"/>
              </p:cNvSpPr>
              <p:nvPr>
                <p:ph idx="1"/>
              </p:nvPr>
            </p:nvSpPr>
            <p:spPr>
              <a:blipFill>
                <a:blip r:embed="rId2"/>
                <a:stretch>
                  <a:fillRect l="-215" t="-749" r="-69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84537A0-A25C-EAEE-EB6E-AE7ECEC1B806}"/>
              </a:ext>
            </a:extLst>
          </p:cNvPr>
          <p:cNvSpPr>
            <a:spLocks noGrp="1"/>
          </p:cNvSpPr>
          <p:nvPr>
            <p:ph type="sldNum" sz="quarter" idx="12"/>
          </p:nvPr>
        </p:nvSpPr>
        <p:spPr/>
        <p:txBody>
          <a:bodyPr/>
          <a:lstStyle/>
          <a:p>
            <a:fld id="{30B9F9C1-6AA3-4836-B413-85EA651AECDC}" type="slidenum">
              <a:rPr lang="en-US" smtClean="0"/>
              <a:t>5</a:t>
            </a:fld>
            <a:endParaRPr lang="en-US"/>
          </a:p>
        </p:txBody>
      </p:sp>
    </p:spTree>
    <p:extLst>
      <p:ext uri="{BB962C8B-B14F-4D97-AF65-F5344CB8AC3E}">
        <p14:creationId xmlns:p14="http://schemas.microsoft.com/office/powerpoint/2010/main" val="303446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A3ADE-38F0-4008-FF1C-73F58294D171}"/>
              </a:ext>
            </a:extLst>
          </p:cNvPr>
          <p:cNvSpPr>
            <a:spLocks noGrp="1"/>
          </p:cNvSpPr>
          <p:nvPr>
            <p:ph type="title"/>
          </p:nvPr>
        </p:nvSpPr>
        <p:spPr/>
        <p:txBody>
          <a:bodyPr>
            <a:normAutofit fontScale="90000"/>
          </a:bodyPr>
          <a:lstStyle/>
          <a:p>
            <a:r>
              <a:rPr lang="en-US" dirty="0"/>
              <a:t>Aircraft Data for Parts B, C, D, E</a:t>
            </a:r>
          </a:p>
        </p:txBody>
      </p:sp>
      <p:sp>
        <p:nvSpPr>
          <p:cNvPr id="4" name="Slide Number Placeholder 3">
            <a:extLst>
              <a:ext uri="{FF2B5EF4-FFF2-40B4-BE49-F238E27FC236}">
                <a16:creationId xmlns:a16="http://schemas.microsoft.com/office/drawing/2014/main" id="{6B90ACC6-CDC4-9DC0-AE57-D2578A50B095}"/>
              </a:ext>
            </a:extLst>
          </p:cNvPr>
          <p:cNvSpPr>
            <a:spLocks noGrp="1"/>
          </p:cNvSpPr>
          <p:nvPr>
            <p:ph type="sldNum" sz="quarter" idx="12"/>
          </p:nvPr>
        </p:nvSpPr>
        <p:spPr/>
        <p:txBody>
          <a:bodyPr/>
          <a:lstStyle/>
          <a:p>
            <a:fld id="{30B9F9C1-6AA3-4836-B413-85EA651AECDC}" type="slidenum">
              <a:rPr lang="en-US" smtClean="0"/>
              <a:t>6</a:t>
            </a:fld>
            <a:endParaRPr lang="en-US"/>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FC38B28A-4AA3-842C-27E7-265E218F0052}"/>
                  </a:ext>
                </a:extLst>
              </p:cNvPr>
              <p:cNvSpPr>
                <a:spLocks noGrp="1"/>
              </p:cNvSpPr>
              <p:nvPr>
                <p:ph idx="1"/>
              </p:nvPr>
            </p:nvSpPr>
            <p:spPr/>
            <p:txBody>
              <a:bodyPr/>
              <a:lstStyle/>
              <a:p>
                <a:r>
                  <a:rPr lang="en-US" dirty="0"/>
                  <a:t>Air density: use sea-level density </a:t>
                </a:r>
                <a:r>
                  <a:rPr lang="en-US" b="1" dirty="0"/>
                  <a:t>1.225 kg/m</a:t>
                </a:r>
                <a:r>
                  <a:rPr lang="en-US" b="1" baseline="30000" dirty="0"/>
                  <a:t>3</a:t>
                </a:r>
                <a:r>
                  <a:rPr lang="en-US" b="1" dirty="0"/>
                  <a:t> </a:t>
                </a:r>
                <a:r>
                  <a:rPr lang="en-US" dirty="0"/>
                  <a:t>throughout</a:t>
                </a:r>
              </a:p>
              <a:p>
                <a:r>
                  <a:rPr lang="en-US" dirty="0"/>
                  <a:t>Wing Area: </a:t>
                </a:r>
                <a:r>
                  <a:rPr lang="en-US" b="1" dirty="0"/>
                  <a:t>0.6 m</a:t>
                </a:r>
                <a:r>
                  <a:rPr lang="en-US" b="1" baseline="30000" dirty="0"/>
                  <a:t>2</a:t>
                </a:r>
              </a:p>
              <a:p>
                <a:r>
                  <a:rPr lang="en-US" dirty="0"/>
                  <a:t>Drag polar: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𝐷</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0</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𝐿</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2</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𝐿</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𝑅</m:t>
                            </m:r>
                          </m:sub>
                        </m:sSub>
                      </m:sub>
                    </m:sSub>
                  </m:oMath>
                </a14:m>
                <a:r>
                  <a:rPr lang="en-US" dirty="0"/>
                  <a:t> (see table below for case-specific values)</a:t>
                </a:r>
              </a:p>
              <a:p>
                <a:r>
                  <a:rPr lang="en-US" dirty="0"/>
                  <a:t>Propeller efficiency (assumed constant): </a:t>
                </a:r>
                <a:r>
                  <a:rPr lang="en-US" b="1" dirty="0"/>
                  <a:t>70%</a:t>
                </a:r>
              </a:p>
              <a:p>
                <a:r>
                  <a:rPr lang="en-US" dirty="0"/>
                  <a:t>Motor output shaft-power: </a:t>
                </a:r>
                <a:r>
                  <a:rPr lang="en-US" b="1" dirty="0"/>
                  <a:t>P = 350W x (0.5 + 0.5 x BATT[%]/100)</a:t>
                </a:r>
              </a:p>
              <a:p>
                <a:pPr lvl="1"/>
                <a:r>
                  <a:rPr lang="en-US" dirty="0"/>
                  <a:t>So, when at 100% battery charge, you get 350 W max power, and it drops off as the battery discharges</a:t>
                </a:r>
              </a:p>
              <a:p>
                <a:pPr lvl="1"/>
                <a:r>
                  <a:rPr lang="en-US" dirty="0"/>
                  <a:t>The aircraft is flown full-throttle for the whole lap, as you are trying to minimize lap time</a:t>
                </a:r>
              </a:p>
              <a:p>
                <a:pPr lvl="1"/>
                <a:endParaRPr lang="en-US" dirty="0"/>
              </a:p>
              <a:p>
                <a:r>
                  <a:rPr lang="en-US" dirty="0"/>
                  <a:t>Battery state-of-charge update model:</a:t>
                </a:r>
              </a:p>
              <a:p>
                <a:pPr lvl="1"/>
                <a14:m>
                  <m:oMath xmlns:m="http://schemas.openxmlformats.org/officeDocument/2006/math">
                    <m:r>
                      <a:rPr lang="en-US" b="1" i="1" dirty="0" smtClean="0">
                        <a:latin typeface="Cambria Math" panose="02040503050406030204" pitchFamily="18" charset="0"/>
                      </a:rPr>
                      <m:t>𝑩𝑨𝑻𝑻</m:t>
                    </m:r>
                    <m:d>
                      <m:dPr>
                        <m:begChr m:val="["/>
                        <m:endChr m:val="]"/>
                        <m:ctrlPr>
                          <a:rPr lang="en-US" b="1" i="1" dirty="0" smtClean="0">
                            <a:latin typeface="Cambria Math" panose="02040503050406030204" pitchFamily="18" charset="0"/>
                          </a:rPr>
                        </m:ctrlPr>
                      </m:dPr>
                      <m:e>
                        <m:r>
                          <a:rPr lang="en-US" b="1" i="1" dirty="0" smtClean="0">
                            <a:latin typeface="Cambria Math" panose="02040503050406030204" pitchFamily="18" charset="0"/>
                          </a:rPr>
                          <m:t>𝒌</m:t>
                        </m:r>
                        <m:r>
                          <a:rPr lang="en-US" b="1" i="1" dirty="0" smtClean="0">
                            <a:latin typeface="Cambria Math" panose="02040503050406030204" pitchFamily="18" charset="0"/>
                          </a:rPr>
                          <m:t>+</m:t>
                        </m:r>
                        <m:r>
                          <a:rPr lang="en-US" b="1" i="1" dirty="0" smtClean="0">
                            <a:latin typeface="Cambria Math" panose="02040503050406030204" pitchFamily="18" charset="0"/>
                          </a:rPr>
                          <m:t>𝟏</m:t>
                        </m:r>
                      </m:e>
                    </m:d>
                    <m:r>
                      <a:rPr lang="en-US" b="1" i="1" dirty="0" smtClean="0">
                        <a:latin typeface="Cambria Math" panose="02040503050406030204" pitchFamily="18" charset="0"/>
                      </a:rPr>
                      <m:t>=</m:t>
                    </m:r>
                    <m:r>
                      <a:rPr lang="en-US" b="1" i="1" dirty="0">
                        <a:latin typeface="Cambria Math" panose="02040503050406030204" pitchFamily="18" charset="0"/>
                      </a:rPr>
                      <m:t> </m:t>
                    </m:r>
                    <m:r>
                      <a:rPr lang="en-US" b="1" i="1" dirty="0" smtClean="0">
                        <a:latin typeface="Cambria Math" panose="02040503050406030204" pitchFamily="18" charset="0"/>
                      </a:rPr>
                      <m:t>𝑩𝑨𝑻𝑻</m:t>
                    </m:r>
                    <m:d>
                      <m:dPr>
                        <m:begChr m:val="["/>
                        <m:endChr m:val="]"/>
                        <m:ctrlPr>
                          <a:rPr lang="en-US" b="1" i="1" dirty="0" smtClean="0">
                            <a:latin typeface="Cambria Math" panose="02040503050406030204" pitchFamily="18" charset="0"/>
                          </a:rPr>
                        </m:ctrlPr>
                      </m:dPr>
                      <m:e>
                        <m:r>
                          <a:rPr lang="en-US" b="1" i="1" dirty="0" smtClean="0">
                            <a:latin typeface="Cambria Math" panose="02040503050406030204" pitchFamily="18" charset="0"/>
                          </a:rPr>
                          <m:t>𝒌</m:t>
                        </m:r>
                      </m:e>
                    </m:d>
                    <m:r>
                      <a:rPr lang="en-US" b="1" i="1" dirty="0" smtClean="0">
                        <a:latin typeface="Cambria Math" panose="02040503050406030204" pitchFamily="18" charset="0"/>
                      </a:rPr>
                      <m:t>– </m:t>
                    </m:r>
                    <m:r>
                      <a:rPr lang="en-US" b="1" i="1" dirty="0" smtClean="0">
                        <a:latin typeface="Cambria Math" panose="02040503050406030204" pitchFamily="18" charset="0"/>
                      </a:rPr>
                      <m:t>𝟏𝟎𝟎</m:t>
                    </m:r>
                    <m:r>
                      <a:rPr lang="en-US" b="1" i="1" dirty="0" smtClean="0">
                        <a:latin typeface="Cambria Math" panose="02040503050406030204" pitchFamily="18" charset="0"/>
                      </a:rPr>
                      <m:t>× </m:t>
                    </m:r>
                    <m:r>
                      <a:rPr lang="en-US" b="1" i="1" dirty="0" smtClean="0">
                        <a:latin typeface="Cambria Math" panose="02040503050406030204" pitchFamily="18" charset="0"/>
                      </a:rPr>
                      <m:t>𝑷</m:t>
                    </m:r>
                    <m:d>
                      <m:dPr>
                        <m:begChr m:val="["/>
                        <m:endChr m:val="]"/>
                        <m:ctrlPr>
                          <a:rPr lang="en-US" b="1" i="1" dirty="0" smtClean="0">
                            <a:latin typeface="Cambria Math" panose="02040503050406030204" pitchFamily="18" charset="0"/>
                          </a:rPr>
                        </m:ctrlPr>
                      </m:dPr>
                      <m:e>
                        <m:r>
                          <a:rPr lang="en-US" b="1" i="1" dirty="0" smtClean="0">
                            <a:latin typeface="Cambria Math" panose="02040503050406030204" pitchFamily="18" charset="0"/>
                          </a:rPr>
                          <m:t>𝒌</m:t>
                        </m:r>
                      </m:e>
                    </m:d>
                    <m:r>
                      <a:rPr lang="en-US" b="1" i="1" dirty="0" smtClean="0">
                        <a:latin typeface="Cambria Math" panose="02040503050406030204" pitchFamily="18" charset="0"/>
                      </a:rPr>
                      <m:t>× </m:t>
                    </m:r>
                    <m:r>
                      <a:rPr lang="en-US" b="1" i="1" dirty="0" smtClean="0">
                        <a:latin typeface="Cambria Math" panose="02040503050406030204" pitchFamily="18" charset="0"/>
                      </a:rPr>
                      <m:t>𝒅𝒕</m:t>
                    </m:r>
                    <m:r>
                      <a:rPr lang="en-US" b="1" i="1" dirty="0" smtClean="0">
                        <a:latin typeface="Cambria Math" panose="02040503050406030204" pitchFamily="18" charset="0"/>
                      </a:rPr>
                      <m:t>[</m:t>
                    </m:r>
                    <m:r>
                      <a:rPr lang="en-US" b="1" i="1" dirty="0" smtClean="0">
                        <a:latin typeface="Cambria Math" panose="02040503050406030204" pitchFamily="18" charset="0"/>
                      </a:rPr>
                      <m:t>𝒌</m:t>
                    </m:r>
                    <m:r>
                      <a:rPr lang="en-US" b="1" i="1" dirty="0" smtClean="0">
                        <a:latin typeface="Cambria Math" panose="02040503050406030204" pitchFamily="18" charset="0"/>
                      </a:rPr>
                      <m:t>] / </m:t>
                    </m:r>
                    <m:r>
                      <a:rPr lang="en-US" b="1" i="1" dirty="0" smtClean="0">
                        <a:latin typeface="Cambria Math" panose="02040503050406030204" pitchFamily="18" charset="0"/>
                      </a:rPr>
                      <m:t>𝟏𝟐𝟎𝟎𝟎𝟎</m:t>
                    </m:r>
                  </m:oMath>
                </a14:m>
              </a:p>
              <a:p>
                <a:endParaRPr lang="en-US" b="1" baseline="30000" dirty="0"/>
              </a:p>
            </p:txBody>
          </p:sp>
        </mc:Choice>
        <mc:Fallback>
          <p:sp>
            <p:nvSpPr>
              <p:cNvPr id="7" name="Content Placeholder 6">
                <a:extLst>
                  <a:ext uri="{FF2B5EF4-FFF2-40B4-BE49-F238E27FC236}">
                    <a16:creationId xmlns:a16="http://schemas.microsoft.com/office/drawing/2014/main" id="{FC38B28A-4AA3-842C-27E7-265E218F0052}"/>
                  </a:ext>
                </a:extLst>
              </p:cNvPr>
              <p:cNvSpPr>
                <a:spLocks noGrp="1" noRot="1" noChangeAspect="1" noMove="1" noResize="1" noEditPoints="1" noAdjustHandles="1" noChangeArrowheads="1" noChangeShapeType="1" noTextEdit="1"/>
              </p:cNvSpPr>
              <p:nvPr>
                <p:ph idx="1"/>
              </p:nvPr>
            </p:nvSpPr>
            <p:spPr>
              <a:blipFill>
                <a:blip r:embed="rId2"/>
                <a:stretch>
                  <a:fillRect l="-322" t="-96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8" name="Content Placeholder 4">
                <a:extLst>
                  <a:ext uri="{FF2B5EF4-FFF2-40B4-BE49-F238E27FC236}">
                    <a16:creationId xmlns:a16="http://schemas.microsoft.com/office/drawing/2014/main" id="{8DA43C7B-2240-AC9E-F3AF-295E5E5C313A}"/>
                  </a:ext>
                </a:extLst>
              </p:cNvPr>
              <p:cNvGraphicFramePr>
                <a:graphicFrameLocks/>
              </p:cNvGraphicFramePr>
              <p:nvPr>
                <p:extLst>
                  <p:ext uri="{D42A27DB-BD31-4B8C-83A1-F6EECF244321}">
                    <p14:modId xmlns:p14="http://schemas.microsoft.com/office/powerpoint/2010/main" val="2484150443"/>
                  </p:ext>
                </p:extLst>
              </p:nvPr>
            </p:nvGraphicFramePr>
            <p:xfrm>
              <a:off x="657827" y="4559295"/>
              <a:ext cx="11353800" cy="1873695"/>
            </p:xfrm>
            <a:graphic>
              <a:graphicData uri="http://schemas.openxmlformats.org/drawingml/2006/table">
                <a:tbl>
                  <a:tblPr firstRow="1" bandRow="1">
                    <a:tableStyleId>{5C22544A-7EE6-4342-B048-85BDC9FD1C3A}</a:tableStyleId>
                  </a:tblPr>
                  <a:tblGrid>
                    <a:gridCol w="1892300">
                      <a:extLst>
                        <a:ext uri="{9D8B030D-6E8A-4147-A177-3AD203B41FA5}">
                          <a16:colId xmlns:a16="http://schemas.microsoft.com/office/drawing/2014/main" val="2893909693"/>
                        </a:ext>
                      </a:extLst>
                    </a:gridCol>
                    <a:gridCol w="1892300">
                      <a:extLst>
                        <a:ext uri="{9D8B030D-6E8A-4147-A177-3AD203B41FA5}">
                          <a16:colId xmlns:a16="http://schemas.microsoft.com/office/drawing/2014/main" val="2578535324"/>
                        </a:ext>
                      </a:extLst>
                    </a:gridCol>
                    <a:gridCol w="1892300">
                      <a:extLst>
                        <a:ext uri="{9D8B030D-6E8A-4147-A177-3AD203B41FA5}">
                          <a16:colId xmlns:a16="http://schemas.microsoft.com/office/drawing/2014/main" val="3057999069"/>
                        </a:ext>
                      </a:extLst>
                    </a:gridCol>
                    <a:gridCol w="1892300">
                      <a:extLst>
                        <a:ext uri="{9D8B030D-6E8A-4147-A177-3AD203B41FA5}">
                          <a16:colId xmlns:a16="http://schemas.microsoft.com/office/drawing/2014/main" val="3765097714"/>
                        </a:ext>
                      </a:extLst>
                    </a:gridCol>
                    <a:gridCol w="1892300">
                      <a:extLst>
                        <a:ext uri="{9D8B030D-6E8A-4147-A177-3AD203B41FA5}">
                          <a16:colId xmlns:a16="http://schemas.microsoft.com/office/drawing/2014/main" val="2639455070"/>
                        </a:ext>
                      </a:extLst>
                    </a:gridCol>
                    <a:gridCol w="1892300">
                      <a:extLst>
                        <a:ext uri="{9D8B030D-6E8A-4147-A177-3AD203B41FA5}">
                          <a16:colId xmlns:a16="http://schemas.microsoft.com/office/drawing/2014/main" val="1233440710"/>
                        </a:ext>
                      </a:extLst>
                    </a:gridCol>
                  </a:tblGrid>
                  <a:tr h="370840">
                    <a:tc>
                      <a:txBody>
                        <a:bodyPr/>
                        <a:lstStyle/>
                        <a:p>
                          <a:r>
                            <a:rPr lang="en-US" dirty="0"/>
                            <a:t>Part</a:t>
                          </a:r>
                        </a:p>
                      </a:txBody>
                      <a:tcPr/>
                    </a:tc>
                    <a:tc>
                      <a:txBody>
                        <a:bodyPr/>
                        <a:lstStyle/>
                        <a:p>
                          <a:pPr algn="ctr"/>
                          <a:r>
                            <a:rPr lang="en-US" dirty="0"/>
                            <a:t>Mass (kg)</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𝑪</m:t>
                                    </m:r>
                                  </m:e>
                                  <m:sub>
                                    <m:sSub>
                                      <m:sSubPr>
                                        <m:ctrlPr>
                                          <a:rPr lang="en-US" b="1" i="1" smtClean="0">
                                            <a:latin typeface="Cambria Math" panose="02040503050406030204" pitchFamily="18" charset="0"/>
                                          </a:rPr>
                                        </m:ctrlPr>
                                      </m:sSubPr>
                                      <m:e>
                                        <m:r>
                                          <a:rPr lang="en-US" b="1" i="1" smtClean="0">
                                            <a:latin typeface="Cambria Math" panose="02040503050406030204" pitchFamily="18" charset="0"/>
                                          </a:rPr>
                                          <m:t>𝑫</m:t>
                                        </m:r>
                                      </m:e>
                                      <m:sub>
                                        <m:r>
                                          <a:rPr lang="en-US" b="1" i="1" smtClean="0">
                                            <a:latin typeface="Cambria Math" panose="02040503050406030204" pitchFamily="18" charset="0"/>
                                          </a:rPr>
                                          <m:t>𝟎</m:t>
                                        </m:r>
                                      </m:sub>
                                    </m:sSub>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𝑲</m:t>
                                    </m:r>
                                  </m:e>
                                  <m:sub>
                                    <m:r>
                                      <a:rPr lang="en-US" b="1" i="1" smtClean="0">
                                        <a:latin typeface="Cambria Math" panose="02040503050406030204" pitchFamily="18" charset="0"/>
                                      </a:rPr>
                                      <m:t>𝟏</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𝑲</m:t>
                                    </m:r>
                                  </m:e>
                                  <m:sub>
                                    <m:r>
                                      <a:rPr lang="en-US" b="1" i="1" smtClean="0">
                                        <a:latin typeface="Cambria Math" panose="02040503050406030204" pitchFamily="18" charset="0"/>
                                      </a:rPr>
                                      <m:t>𝟐</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𝑪</m:t>
                                    </m:r>
                                  </m:e>
                                  <m:sub>
                                    <m:sSub>
                                      <m:sSubPr>
                                        <m:ctrlPr>
                                          <a:rPr lang="en-US" b="1" i="1" smtClean="0">
                                            <a:latin typeface="Cambria Math" panose="02040503050406030204" pitchFamily="18" charset="0"/>
                                          </a:rPr>
                                        </m:ctrlPr>
                                      </m:sSubPr>
                                      <m:e>
                                        <m:r>
                                          <a:rPr lang="en-US" b="1" i="1" smtClean="0">
                                            <a:latin typeface="Cambria Math" panose="02040503050406030204" pitchFamily="18" charset="0"/>
                                          </a:rPr>
                                          <m:t>𝑫</m:t>
                                        </m:r>
                                      </m:e>
                                      <m:sub>
                                        <m:r>
                                          <a:rPr lang="en-US" b="1" i="1" smtClean="0">
                                            <a:latin typeface="Cambria Math" panose="02040503050406030204" pitchFamily="18" charset="0"/>
                                          </a:rPr>
                                          <m:t>𝑹</m:t>
                                        </m:r>
                                      </m:sub>
                                    </m:sSub>
                                  </m:sub>
                                </m:sSub>
                              </m:oMath>
                            </m:oMathPara>
                          </a14:m>
                          <a:endParaRPr lang="en-US" dirty="0"/>
                        </a:p>
                      </a:txBody>
                      <a:tcPr/>
                    </a:tc>
                    <a:extLst>
                      <a:ext uri="{0D108BD9-81ED-4DB2-BD59-A6C34878D82A}">
                        <a16:rowId xmlns:a16="http://schemas.microsoft.com/office/drawing/2014/main" val="3673296633"/>
                      </a:ext>
                    </a:extLst>
                  </a:tr>
                  <a:tr h="370840">
                    <a:tc>
                      <a:txBody>
                        <a:bodyPr/>
                        <a:lstStyle/>
                        <a:p>
                          <a:r>
                            <a:rPr lang="en-US" dirty="0"/>
                            <a:t>Part B</a:t>
                          </a:r>
                        </a:p>
                      </a:txBody>
                      <a:tcPr/>
                    </a:tc>
                    <a:tc>
                      <a:txBody>
                        <a:bodyPr/>
                        <a:lstStyle/>
                        <a:p>
                          <a:pPr algn="ctr"/>
                          <a:r>
                            <a:rPr lang="en-US" dirty="0"/>
                            <a:t>8.0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0.025</a:t>
                          </a:r>
                        </a:p>
                      </a:txBody>
                      <a:tcPr/>
                    </a:tc>
                    <a:tc>
                      <a:txBody>
                        <a:bodyPr/>
                        <a:lstStyle/>
                        <a:p>
                          <a:pPr algn="ctr"/>
                          <a:r>
                            <a:rPr lang="en-US"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0.050</a:t>
                          </a:r>
                        </a:p>
                      </a:txBody>
                      <a:tcPr/>
                    </a:tc>
                    <a:tc>
                      <a:txBody>
                        <a:bodyPr/>
                        <a:lstStyle/>
                        <a:p>
                          <a:pPr algn="ctr"/>
                          <a:r>
                            <a:rPr lang="en-US" dirty="0"/>
                            <a:t>0</a:t>
                          </a:r>
                        </a:p>
                      </a:txBody>
                      <a:tcPr/>
                    </a:tc>
                    <a:extLst>
                      <a:ext uri="{0D108BD9-81ED-4DB2-BD59-A6C34878D82A}">
                        <a16:rowId xmlns:a16="http://schemas.microsoft.com/office/drawing/2014/main" val="1185732132"/>
                      </a:ext>
                    </a:extLst>
                  </a:tr>
                  <a:tr h="370840">
                    <a:tc>
                      <a:txBody>
                        <a:bodyPr/>
                        <a:lstStyle/>
                        <a:p>
                          <a:r>
                            <a:rPr lang="en-US" dirty="0"/>
                            <a:t>Part C</a:t>
                          </a:r>
                        </a:p>
                      </a:txBody>
                      <a:tcPr/>
                    </a:tc>
                    <a:tc>
                      <a:txBody>
                        <a:bodyPr/>
                        <a:lstStyle/>
                        <a:p>
                          <a:pPr algn="ctr"/>
                          <a:r>
                            <a:rPr lang="en-US" dirty="0"/>
                            <a:t>8.0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0.025</a:t>
                          </a:r>
                        </a:p>
                      </a:txBody>
                      <a:tcPr/>
                    </a:tc>
                    <a:tc>
                      <a:txBody>
                        <a:bodyPr/>
                        <a:lstStyle/>
                        <a:p>
                          <a:pPr algn="ctr"/>
                          <a:r>
                            <a:rPr lang="en-US"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0.050</a:t>
                          </a:r>
                        </a:p>
                      </a:txBody>
                      <a:tcPr/>
                    </a:tc>
                    <a:tc>
                      <a:txBody>
                        <a:bodyPr/>
                        <a:lstStyle/>
                        <a:p>
                          <a:pPr algn="ctr"/>
                          <a:r>
                            <a:rPr lang="en-US" dirty="0"/>
                            <a:t>0</a:t>
                          </a:r>
                        </a:p>
                      </a:txBody>
                      <a:tcPr/>
                    </a:tc>
                    <a:extLst>
                      <a:ext uri="{0D108BD9-81ED-4DB2-BD59-A6C34878D82A}">
                        <a16:rowId xmlns:a16="http://schemas.microsoft.com/office/drawing/2014/main" val="1373270905"/>
                      </a:ext>
                    </a:extLst>
                  </a:tr>
                  <a:tr h="370840">
                    <a:tc>
                      <a:txBody>
                        <a:bodyPr/>
                        <a:lstStyle/>
                        <a:p>
                          <a:r>
                            <a:rPr lang="en-US" dirty="0"/>
                            <a:t>Part D</a:t>
                          </a:r>
                        </a:p>
                      </a:txBody>
                      <a:tcPr/>
                    </a:tc>
                    <a:tc>
                      <a:txBody>
                        <a:bodyPr/>
                        <a:lstStyle/>
                        <a:p>
                          <a:pPr algn="ctr"/>
                          <a:r>
                            <a:rPr lang="en-US" dirty="0"/>
                            <a:t>10.0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0.025</a:t>
                          </a:r>
                        </a:p>
                      </a:txBody>
                      <a:tcPr/>
                    </a:tc>
                    <a:tc>
                      <a:txBody>
                        <a:bodyPr/>
                        <a:lstStyle/>
                        <a:p>
                          <a:pPr algn="ctr"/>
                          <a:r>
                            <a:rPr lang="en-US"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0.050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0.020</a:t>
                          </a:r>
                        </a:p>
                      </a:txBody>
                      <a:tcPr/>
                    </a:tc>
                    <a:extLst>
                      <a:ext uri="{0D108BD9-81ED-4DB2-BD59-A6C34878D82A}">
                        <a16:rowId xmlns:a16="http://schemas.microsoft.com/office/drawing/2014/main" val="3690731479"/>
                      </a:ext>
                    </a:extLst>
                  </a:tr>
                  <a:tr h="370840">
                    <a:tc>
                      <a:txBody>
                        <a:bodyPr/>
                        <a:lstStyle/>
                        <a:p>
                          <a:r>
                            <a:rPr lang="en-US" dirty="0"/>
                            <a:t>Part E</a:t>
                          </a:r>
                        </a:p>
                      </a:txBody>
                      <a:tcPr/>
                    </a:tc>
                    <a:tc>
                      <a:txBody>
                        <a:bodyPr/>
                        <a:lstStyle/>
                        <a:p>
                          <a:pPr algn="ctr"/>
                          <a:r>
                            <a:rPr lang="en-US" dirty="0"/>
                            <a:t>10.0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0.025</a:t>
                          </a:r>
                        </a:p>
                      </a:txBody>
                      <a:tcPr/>
                    </a:tc>
                    <a:tc>
                      <a:txBody>
                        <a:bodyPr/>
                        <a:lstStyle/>
                        <a:p>
                          <a:pPr algn="ctr"/>
                          <a:r>
                            <a:rPr lang="en-US"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0.050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0.020</a:t>
                          </a:r>
                        </a:p>
                      </a:txBody>
                      <a:tcPr/>
                    </a:tc>
                    <a:extLst>
                      <a:ext uri="{0D108BD9-81ED-4DB2-BD59-A6C34878D82A}">
                        <a16:rowId xmlns:a16="http://schemas.microsoft.com/office/drawing/2014/main" val="2038845337"/>
                      </a:ext>
                    </a:extLst>
                  </a:tr>
                </a:tbl>
              </a:graphicData>
            </a:graphic>
          </p:graphicFrame>
        </mc:Choice>
        <mc:Fallback>
          <p:graphicFrame>
            <p:nvGraphicFramePr>
              <p:cNvPr id="8" name="Content Placeholder 4">
                <a:extLst>
                  <a:ext uri="{FF2B5EF4-FFF2-40B4-BE49-F238E27FC236}">
                    <a16:creationId xmlns:a16="http://schemas.microsoft.com/office/drawing/2014/main" id="{8DA43C7B-2240-AC9E-F3AF-295E5E5C313A}"/>
                  </a:ext>
                </a:extLst>
              </p:cNvPr>
              <p:cNvGraphicFramePr>
                <a:graphicFrameLocks/>
              </p:cNvGraphicFramePr>
              <p:nvPr>
                <p:extLst>
                  <p:ext uri="{D42A27DB-BD31-4B8C-83A1-F6EECF244321}">
                    <p14:modId xmlns:p14="http://schemas.microsoft.com/office/powerpoint/2010/main" val="2484150443"/>
                  </p:ext>
                </p:extLst>
              </p:nvPr>
            </p:nvGraphicFramePr>
            <p:xfrm>
              <a:off x="657827" y="4559295"/>
              <a:ext cx="11353800" cy="1873695"/>
            </p:xfrm>
            <a:graphic>
              <a:graphicData uri="http://schemas.openxmlformats.org/drawingml/2006/table">
                <a:tbl>
                  <a:tblPr firstRow="1" bandRow="1">
                    <a:tableStyleId>{5C22544A-7EE6-4342-B048-85BDC9FD1C3A}</a:tableStyleId>
                  </a:tblPr>
                  <a:tblGrid>
                    <a:gridCol w="1892300">
                      <a:extLst>
                        <a:ext uri="{9D8B030D-6E8A-4147-A177-3AD203B41FA5}">
                          <a16:colId xmlns:a16="http://schemas.microsoft.com/office/drawing/2014/main" val="2893909693"/>
                        </a:ext>
                      </a:extLst>
                    </a:gridCol>
                    <a:gridCol w="1892300">
                      <a:extLst>
                        <a:ext uri="{9D8B030D-6E8A-4147-A177-3AD203B41FA5}">
                          <a16:colId xmlns:a16="http://schemas.microsoft.com/office/drawing/2014/main" val="2578535324"/>
                        </a:ext>
                      </a:extLst>
                    </a:gridCol>
                    <a:gridCol w="1892300">
                      <a:extLst>
                        <a:ext uri="{9D8B030D-6E8A-4147-A177-3AD203B41FA5}">
                          <a16:colId xmlns:a16="http://schemas.microsoft.com/office/drawing/2014/main" val="3057999069"/>
                        </a:ext>
                      </a:extLst>
                    </a:gridCol>
                    <a:gridCol w="1892300">
                      <a:extLst>
                        <a:ext uri="{9D8B030D-6E8A-4147-A177-3AD203B41FA5}">
                          <a16:colId xmlns:a16="http://schemas.microsoft.com/office/drawing/2014/main" val="3765097714"/>
                        </a:ext>
                      </a:extLst>
                    </a:gridCol>
                    <a:gridCol w="1892300">
                      <a:extLst>
                        <a:ext uri="{9D8B030D-6E8A-4147-A177-3AD203B41FA5}">
                          <a16:colId xmlns:a16="http://schemas.microsoft.com/office/drawing/2014/main" val="2639455070"/>
                        </a:ext>
                      </a:extLst>
                    </a:gridCol>
                    <a:gridCol w="1892300">
                      <a:extLst>
                        <a:ext uri="{9D8B030D-6E8A-4147-A177-3AD203B41FA5}">
                          <a16:colId xmlns:a16="http://schemas.microsoft.com/office/drawing/2014/main" val="1233440710"/>
                        </a:ext>
                      </a:extLst>
                    </a:gridCol>
                  </a:tblGrid>
                  <a:tr h="390335">
                    <a:tc>
                      <a:txBody>
                        <a:bodyPr/>
                        <a:lstStyle/>
                        <a:p>
                          <a:r>
                            <a:rPr lang="en-US" dirty="0"/>
                            <a:t>Part</a:t>
                          </a:r>
                        </a:p>
                      </a:txBody>
                      <a:tcPr/>
                    </a:tc>
                    <a:tc>
                      <a:txBody>
                        <a:bodyPr/>
                        <a:lstStyle/>
                        <a:p>
                          <a:pPr algn="ctr"/>
                          <a:r>
                            <a:rPr lang="en-US" dirty="0"/>
                            <a:t>Mass (kg)</a:t>
                          </a:r>
                        </a:p>
                      </a:txBody>
                      <a:tcPr/>
                    </a:tc>
                    <a:tc>
                      <a:txBody>
                        <a:bodyPr/>
                        <a:lstStyle/>
                        <a:p>
                          <a:endParaRPr lang="en-US"/>
                        </a:p>
                      </a:txBody>
                      <a:tcPr>
                        <a:blipFill>
                          <a:blip r:embed="rId3"/>
                          <a:stretch>
                            <a:fillRect l="-200000" t="-7813" r="-300965" b="-404688"/>
                          </a:stretch>
                        </a:blipFill>
                      </a:tcPr>
                    </a:tc>
                    <a:tc>
                      <a:txBody>
                        <a:bodyPr/>
                        <a:lstStyle/>
                        <a:p>
                          <a:endParaRPr lang="en-US"/>
                        </a:p>
                      </a:txBody>
                      <a:tcPr>
                        <a:blipFill>
                          <a:blip r:embed="rId3"/>
                          <a:stretch>
                            <a:fillRect l="-300000" t="-7813" r="-200965" b="-404688"/>
                          </a:stretch>
                        </a:blipFill>
                      </a:tcPr>
                    </a:tc>
                    <a:tc>
                      <a:txBody>
                        <a:bodyPr/>
                        <a:lstStyle/>
                        <a:p>
                          <a:endParaRPr lang="en-US"/>
                        </a:p>
                      </a:txBody>
                      <a:tcPr>
                        <a:blipFill>
                          <a:blip r:embed="rId3"/>
                          <a:stretch>
                            <a:fillRect l="-401290" t="-7813" r="-101613" b="-404688"/>
                          </a:stretch>
                        </a:blipFill>
                      </a:tcPr>
                    </a:tc>
                    <a:tc>
                      <a:txBody>
                        <a:bodyPr/>
                        <a:lstStyle/>
                        <a:p>
                          <a:endParaRPr lang="en-US"/>
                        </a:p>
                      </a:txBody>
                      <a:tcPr>
                        <a:blipFill>
                          <a:blip r:embed="rId3"/>
                          <a:stretch>
                            <a:fillRect l="-499678" t="-7813" r="-1286" b="-404688"/>
                          </a:stretch>
                        </a:blipFill>
                      </a:tcPr>
                    </a:tc>
                    <a:extLst>
                      <a:ext uri="{0D108BD9-81ED-4DB2-BD59-A6C34878D82A}">
                        <a16:rowId xmlns:a16="http://schemas.microsoft.com/office/drawing/2014/main" val="3673296633"/>
                      </a:ext>
                    </a:extLst>
                  </a:tr>
                  <a:tr h="370840">
                    <a:tc>
                      <a:txBody>
                        <a:bodyPr/>
                        <a:lstStyle/>
                        <a:p>
                          <a:r>
                            <a:rPr lang="en-US" dirty="0"/>
                            <a:t>Part B</a:t>
                          </a:r>
                        </a:p>
                      </a:txBody>
                      <a:tcPr/>
                    </a:tc>
                    <a:tc>
                      <a:txBody>
                        <a:bodyPr/>
                        <a:lstStyle/>
                        <a:p>
                          <a:pPr algn="ctr"/>
                          <a:r>
                            <a:rPr lang="en-US" dirty="0"/>
                            <a:t>8.0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0.025</a:t>
                          </a:r>
                        </a:p>
                      </a:txBody>
                      <a:tcPr/>
                    </a:tc>
                    <a:tc>
                      <a:txBody>
                        <a:bodyPr/>
                        <a:lstStyle/>
                        <a:p>
                          <a:pPr algn="ctr"/>
                          <a:r>
                            <a:rPr lang="en-US"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0.050</a:t>
                          </a:r>
                        </a:p>
                      </a:txBody>
                      <a:tcPr/>
                    </a:tc>
                    <a:tc>
                      <a:txBody>
                        <a:bodyPr/>
                        <a:lstStyle/>
                        <a:p>
                          <a:pPr algn="ctr"/>
                          <a:r>
                            <a:rPr lang="en-US" dirty="0"/>
                            <a:t>0</a:t>
                          </a:r>
                        </a:p>
                      </a:txBody>
                      <a:tcPr/>
                    </a:tc>
                    <a:extLst>
                      <a:ext uri="{0D108BD9-81ED-4DB2-BD59-A6C34878D82A}">
                        <a16:rowId xmlns:a16="http://schemas.microsoft.com/office/drawing/2014/main" val="1185732132"/>
                      </a:ext>
                    </a:extLst>
                  </a:tr>
                  <a:tr h="370840">
                    <a:tc>
                      <a:txBody>
                        <a:bodyPr/>
                        <a:lstStyle/>
                        <a:p>
                          <a:r>
                            <a:rPr lang="en-US" dirty="0"/>
                            <a:t>Part C</a:t>
                          </a:r>
                        </a:p>
                      </a:txBody>
                      <a:tcPr/>
                    </a:tc>
                    <a:tc>
                      <a:txBody>
                        <a:bodyPr/>
                        <a:lstStyle/>
                        <a:p>
                          <a:pPr algn="ctr"/>
                          <a:r>
                            <a:rPr lang="en-US" dirty="0"/>
                            <a:t>8.0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0.025</a:t>
                          </a:r>
                        </a:p>
                      </a:txBody>
                      <a:tcPr/>
                    </a:tc>
                    <a:tc>
                      <a:txBody>
                        <a:bodyPr/>
                        <a:lstStyle/>
                        <a:p>
                          <a:pPr algn="ctr"/>
                          <a:r>
                            <a:rPr lang="en-US"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0.050</a:t>
                          </a:r>
                        </a:p>
                      </a:txBody>
                      <a:tcPr/>
                    </a:tc>
                    <a:tc>
                      <a:txBody>
                        <a:bodyPr/>
                        <a:lstStyle/>
                        <a:p>
                          <a:pPr algn="ctr"/>
                          <a:r>
                            <a:rPr lang="en-US" dirty="0"/>
                            <a:t>0</a:t>
                          </a:r>
                        </a:p>
                      </a:txBody>
                      <a:tcPr/>
                    </a:tc>
                    <a:extLst>
                      <a:ext uri="{0D108BD9-81ED-4DB2-BD59-A6C34878D82A}">
                        <a16:rowId xmlns:a16="http://schemas.microsoft.com/office/drawing/2014/main" val="1373270905"/>
                      </a:ext>
                    </a:extLst>
                  </a:tr>
                  <a:tr h="370840">
                    <a:tc>
                      <a:txBody>
                        <a:bodyPr/>
                        <a:lstStyle/>
                        <a:p>
                          <a:r>
                            <a:rPr lang="en-US" dirty="0"/>
                            <a:t>Part D</a:t>
                          </a:r>
                        </a:p>
                      </a:txBody>
                      <a:tcPr/>
                    </a:tc>
                    <a:tc>
                      <a:txBody>
                        <a:bodyPr/>
                        <a:lstStyle/>
                        <a:p>
                          <a:pPr algn="ctr"/>
                          <a:r>
                            <a:rPr lang="en-US" dirty="0"/>
                            <a:t>10.0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0.025</a:t>
                          </a:r>
                        </a:p>
                      </a:txBody>
                      <a:tcPr/>
                    </a:tc>
                    <a:tc>
                      <a:txBody>
                        <a:bodyPr/>
                        <a:lstStyle/>
                        <a:p>
                          <a:pPr algn="ctr"/>
                          <a:r>
                            <a:rPr lang="en-US"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0.050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0.020</a:t>
                          </a:r>
                        </a:p>
                      </a:txBody>
                      <a:tcPr/>
                    </a:tc>
                    <a:extLst>
                      <a:ext uri="{0D108BD9-81ED-4DB2-BD59-A6C34878D82A}">
                        <a16:rowId xmlns:a16="http://schemas.microsoft.com/office/drawing/2014/main" val="3690731479"/>
                      </a:ext>
                    </a:extLst>
                  </a:tr>
                  <a:tr h="370840">
                    <a:tc>
                      <a:txBody>
                        <a:bodyPr/>
                        <a:lstStyle/>
                        <a:p>
                          <a:r>
                            <a:rPr lang="en-US" dirty="0"/>
                            <a:t>Part E</a:t>
                          </a:r>
                        </a:p>
                      </a:txBody>
                      <a:tcPr/>
                    </a:tc>
                    <a:tc>
                      <a:txBody>
                        <a:bodyPr/>
                        <a:lstStyle/>
                        <a:p>
                          <a:pPr algn="ctr"/>
                          <a:r>
                            <a:rPr lang="en-US" dirty="0"/>
                            <a:t>10.0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0.025</a:t>
                          </a:r>
                        </a:p>
                      </a:txBody>
                      <a:tcPr/>
                    </a:tc>
                    <a:tc>
                      <a:txBody>
                        <a:bodyPr/>
                        <a:lstStyle/>
                        <a:p>
                          <a:pPr algn="ctr"/>
                          <a:r>
                            <a:rPr lang="en-US"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0.050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0.020</a:t>
                          </a:r>
                        </a:p>
                      </a:txBody>
                      <a:tcPr/>
                    </a:tc>
                    <a:extLst>
                      <a:ext uri="{0D108BD9-81ED-4DB2-BD59-A6C34878D82A}">
                        <a16:rowId xmlns:a16="http://schemas.microsoft.com/office/drawing/2014/main" val="2038845337"/>
                      </a:ext>
                    </a:extLst>
                  </a:tr>
                </a:tbl>
              </a:graphicData>
            </a:graphic>
          </p:graphicFrame>
        </mc:Fallback>
      </mc:AlternateContent>
    </p:spTree>
    <p:extLst>
      <p:ext uri="{BB962C8B-B14F-4D97-AF65-F5344CB8AC3E}">
        <p14:creationId xmlns:p14="http://schemas.microsoft.com/office/powerpoint/2010/main" val="3471609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282C7-1F64-21B7-29D8-ED96D0162B9F}"/>
              </a:ext>
            </a:extLst>
          </p:cNvPr>
          <p:cNvSpPr>
            <a:spLocks noGrp="1"/>
          </p:cNvSpPr>
          <p:nvPr>
            <p:ph type="title"/>
          </p:nvPr>
        </p:nvSpPr>
        <p:spPr/>
        <p:txBody>
          <a:bodyPr>
            <a:normAutofit fontScale="90000"/>
          </a:bodyPr>
          <a:lstStyle/>
          <a:p>
            <a:r>
              <a:rPr lang="en-US" dirty="0"/>
              <a:t>Instructions</a:t>
            </a:r>
          </a:p>
        </p:txBody>
      </p:sp>
      <p:sp>
        <p:nvSpPr>
          <p:cNvPr id="3" name="Content Placeholder 2">
            <a:extLst>
              <a:ext uri="{FF2B5EF4-FFF2-40B4-BE49-F238E27FC236}">
                <a16:creationId xmlns:a16="http://schemas.microsoft.com/office/drawing/2014/main" id="{4D1CD9E9-E6EF-42B4-BC7A-23076DBDE3D0}"/>
              </a:ext>
            </a:extLst>
          </p:cNvPr>
          <p:cNvSpPr>
            <a:spLocks noGrp="1"/>
          </p:cNvSpPr>
          <p:nvPr>
            <p:ph idx="1"/>
          </p:nvPr>
        </p:nvSpPr>
        <p:spPr/>
        <p:txBody>
          <a:bodyPr>
            <a:normAutofit/>
          </a:bodyPr>
          <a:lstStyle/>
          <a:p>
            <a:r>
              <a:rPr lang="en-US" sz="1600" dirty="0"/>
              <a:t>For Parts B, C, D, and E, execute the </a:t>
            </a:r>
            <a:r>
              <a:rPr lang="en-US" sz="1600" b="1" i="1" dirty="0" err="1"/>
              <a:t>LapTblCreator.m</a:t>
            </a:r>
            <a:r>
              <a:rPr lang="en-US" sz="1600" dirty="0"/>
              <a:t> file to get the performance table in the correct format (below)</a:t>
            </a:r>
          </a:p>
          <a:p>
            <a:pPr lvl="1"/>
            <a:r>
              <a:rPr lang="en-US" sz="1600" dirty="0"/>
              <a:t>All columns and their units are defined in this file. </a:t>
            </a:r>
            <a:r>
              <a:rPr lang="en-US" sz="1600" b="1" dirty="0"/>
              <a:t>Read them carefully!</a:t>
            </a:r>
          </a:p>
          <a:p>
            <a:pPr lvl="1"/>
            <a:r>
              <a:rPr lang="en-US" sz="1600" dirty="0"/>
              <a:t>Straight line segments have already been discretized in terms of distance </a:t>
            </a:r>
            <a:r>
              <a:rPr lang="en-US" sz="1600" b="1" dirty="0"/>
              <a:t>dx</a:t>
            </a:r>
          </a:p>
          <a:p>
            <a:pPr lvl="1"/>
            <a:r>
              <a:rPr lang="en-US" sz="1600" dirty="0"/>
              <a:t>Turn segments have already been discretized in terms of heading increment </a:t>
            </a:r>
            <a:r>
              <a:rPr lang="en-US" sz="1600" b="1" dirty="0" err="1"/>
              <a:t>dHDG</a:t>
            </a:r>
            <a:endParaRPr lang="en-US" sz="1600" b="1" dirty="0"/>
          </a:p>
          <a:p>
            <a:r>
              <a:rPr lang="en-US" sz="1600" dirty="0"/>
              <a:t>Use the </a:t>
            </a:r>
            <a:r>
              <a:rPr lang="en-US" sz="1600" b="1" i="1" dirty="0" err="1"/>
              <a:t>CalcAircraftPerf.m</a:t>
            </a:r>
            <a:r>
              <a:rPr lang="en-US" sz="1600" b="1" dirty="0"/>
              <a:t> </a:t>
            </a:r>
            <a:r>
              <a:rPr lang="en-US" sz="1600" dirty="0"/>
              <a:t>function you created to fill in the rows and columns of the table</a:t>
            </a:r>
          </a:p>
          <a:p>
            <a:r>
              <a:rPr lang="en-US" sz="1600" dirty="0"/>
              <a:t>You are trying to minimize the total time </a:t>
            </a:r>
            <a:r>
              <a:rPr lang="en-US" sz="1600" b="1" dirty="0"/>
              <a:t>t</a:t>
            </a:r>
            <a:r>
              <a:rPr lang="en-US" sz="1600" dirty="0"/>
              <a:t> at the end of the lap (last row of the table – “FINISH”)</a:t>
            </a:r>
          </a:p>
        </p:txBody>
      </p:sp>
      <p:sp>
        <p:nvSpPr>
          <p:cNvPr id="4" name="Slide Number Placeholder 3">
            <a:extLst>
              <a:ext uri="{FF2B5EF4-FFF2-40B4-BE49-F238E27FC236}">
                <a16:creationId xmlns:a16="http://schemas.microsoft.com/office/drawing/2014/main" id="{49CB4308-AD96-6BB4-FF4C-DC6C13EACF7A}"/>
              </a:ext>
            </a:extLst>
          </p:cNvPr>
          <p:cNvSpPr>
            <a:spLocks noGrp="1"/>
          </p:cNvSpPr>
          <p:nvPr>
            <p:ph type="sldNum" sz="quarter" idx="12"/>
          </p:nvPr>
        </p:nvSpPr>
        <p:spPr/>
        <p:txBody>
          <a:bodyPr/>
          <a:lstStyle/>
          <a:p>
            <a:fld id="{30B9F9C1-6AA3-4836-B413-85EA651AECDC}" type="slidenum">
              <a:rPr lang="en-US" smtClean="0"/>
              <a:t>7</a:t>
            </a:fld>
            <a:endParaRPr lang="en-US"/>
          </a:p>
        </p:txBody>
      </p:sp>
      <p:pic>
        <p:nvPicPr>
          <p:cNvPr id="8" name="Picture 7">
            <a:extLst>
              <a:ext uri="{FF2B5EF4-FFF2-40B4-BE49-F238E27FC236}">
                <a16:creationId xmlns:a16="http://schemas.microsoft.com/office/drawing/2014/main" id="{CE6ED3D1-65D2-776F-41EE-16EE24F98B0C}"/>
              </a:ext>
            </a:extLst>
          </p:cNvPr>
          <p:cNvPicPr>
            <a:picLocks noChangeAspect="1"/>
          </p:cNvPicPr>
          <p:nvPr/>
        </p:nvPicPr>
        <p:blipFill>
          <a:blip r:embed="rId2"/>
          <a:srcRect r="39583"/>
          <a:stretch>
            <a:fillRect/>
          </a:stretch>
        </p:blipFill>
        <p:spPr>
          <a:xfrm>
            <a:off x="6925237" y="3532700"/>
            <a:ext cx="5114062" cy="2875180"/>
          </a:xfrm>
          <a:prstGeom prst="rect">
            <a:avLst/>
          </a:prstGeom>
        </p:spPr>
      </p:pic>
      <p:pic>
        <p:nvPicPr>
          <p:cNvPr id="10" name="Picture 9">
            <a:extLst>
              <a:ext uri="{FF2B5EF4-FFF2-40B4-BE49-F238E27FC236}">
                <a16:creationId xmlns:a16="http://schemas.microsoft.com/office/drawing/2014/main" id="{84F39DC7-BF83-DBB4-D69F-4C4F29F94517}"/>
              </a:ext>
            </a:extLst>
          </p:cNvPr>
          <p:cNvPicPr>
            <a:picLocks noChangeAspect="1"/>
          </p:cNvPicPr>
          <p:nvPr/>
        </p:nvPicPr>
        <p:blipFill>
          <a:blip r:embed="rId3"/>
          <a:stretch>
            <a:fillRect/>
          </a:stretch>
        </p:blipFill>
        <p:spPr>
          <a:xfrm>
            <a:off x="628951" y="2940296"/>
            <a:ext cx="6182588" cy="3467584"/>
          </a:xfrm>
          <a:prstGeom prst="rect">
            <a:avLst/>
          </a:prstGeom>
        </p:spPr>
      </p:pic>
    </p:spTree>
    <p:extLst>
      <p:ext uri="{BB962C8B-B14F-4D97-AF65-F5344CB8AC3E}">
        <p14:creationId xmlns:p14="http://schemas.microsoft.com/office/powerpoint/2010/main" val="1638033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52287-F4F5-DF99-6DD2-7D8B5704AC9F}"/>
              </a:ext>
            </a:extLst>
          </p:cNvPr>
          <p:cNvSpPr>
            <a:spLocks noGrp="1"/>
          </p:cNvSpPr>
          <p:nvPr>
            <p:ph type="title"/>
          </p:nvPr>
        </p:nvSpPr>
        <p:spPr/>
        <p:txBody>
          <a:bodyPr>
            <a:normAutofit fontScale="90000"/>
          </a:bodyPr>
          <a:lstStyle/>
          <a:p>
            <a:r>
              <a:rPr lang="en-US" dirty="0"/>
              <a:t>Sanity Check: State of the Aircraft at the Finish Line for Part B</a:t>
            </a:r>
          </a:p>
        </p:txBody>
      </p:sp>
      <p:pic>
        <p:nvPicPr>
          <p:cNvPr id="6" name="Content Placeholder 5">
            <a:extLst>
              <a:ext uri="{FF2B5EF4-FFF2-40B4-BE49-F238E27FC236}">
                <a16:creationId xmlns:a16="http://schemas.microsoft.com/office/drawing/2014/main" id="{28AD2D86-ED61-7218-9096-7383C4833A30}"/>
              </a:ext>
            </a:extLst>
          </p:cNvPr>
          <p:cNvPicPr>
            <a:picLocks noGrp="1" noChangeAspect="1"/>
          </p:cNvPicPr>
          <p:nvPr>
            <p:ph idx="1"/>
          </p:nvPr>
        </p:nvPicPr>
        <p:blipFill>
          <a:blip r:embed="rId2"/>
          <a:stretch>
            <a:fillRect/>
          </a:stretch>
        </p:blipFill>
        <p:spPr>
          <a:xfrm>
            <a:off x="628650" y="3074420"/>
            <a:ext cx="11353800" cy="1044122"/>
          </a:xfrm>
          <a:prstGeom prst="rect">
            <a:avLst/>
          </a:prstGeom>
        </p:spPr>
      </p:pic>
      <p:sp>
        <p:nvSpPr>
          <p:cNvPr id="4" name="Slide Number Placeholder 3">
            <a:extLst>
              <a:ext uri="{FF2B5EF4-FFF2-40B4-BE49-F238E27FC236}">
                <a16:creationId xmlns:a16="http://schemas.microsoft.com/office/drawing/2014/main" id="{CAC80605-0342-2BC4-D3B8-F750AE643F9A}"/>
              </a:ext>
            </a:extLst>
          </p:cNvPr>
          <p:cNvSpPr>
            <a:spLocks noGrp="1"/>
          </p:cNvSpPr>
          <p:nvPr>
            <p:ph type="sldNum" sz="quarter" idx="12"/>
          </p:nvPr>
        </p:nvSpPr>
        <p:spPr/>
        <p:txBody>
          <a:bodyPr/>
          <a:lstStyle/>
          <a:p>
            <a:fld id="{30B9F9C1-6AA3-4836-B413-85EA651AECDC}" type="slidenum">
              <a:rPr lang="en-US" smtClean="0"/>
              <a:t>8</a:t>
            </a:fld>
            <a:endParaRPr lang="en-US"/>
          </a:p>
        </p:txBody>
      </p:sp>
    </p:spTree>
    <p:extLst>
      <p:ext uri="{BB962C8B-B14F-4D97-AF65-F5344CB8AC3E}">
        <p14:creationId xmlns:p14="http://schemas.microsoft.com/office/powerpoint/2010/main" val="2468238220"/>
      </p:ext>
    </p:extLst>
  </p:cSld>
  <p:clrMapOvr>
    <a:masterClrMapping/>
  </p:clrMapOvr>
</p:sld>
</file>

<file path=ppt/theme/theme1.xml><?xml version="1.0" encoding="utf-8"?>
<a:theme xmlns:a="http://schemas.openxmlformats.org/drawingml/2006/main" name="1_The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6F8DA762-9572-43C1-9E6E-EB35BDB68FA8}" vid="{E36CBB75-1DDD-404D-925A-BCF5C388489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9359</TotalTime>
  <Words>1252</Words>
  <Application>Microsoft Office PowerPoint</Application>
  <PresentationFormat>Widescreen</PresentationFormat>
  <Paragraphs>149</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Cambria Math</vt:lpstr>
      <vt:lpstr>Wingdings</vt:lpstr>
      <vt:lpstr>1_Theme1</vt:lpstr>
      <vt:lpstr>Spring 2026 Final</vt:lpstr>
      <vt:lpstr>Design, Build, Fly (DBF) Lap Performance Analysis</vt:lpstr>
      <vt:lpstr>Kinematics for Straight and Curved Segments</vt:lpstr>
      <vt:lpstr>Part A: Develop Aircraft Performance Evaluator Function [20 points]</vt:lpstr>
      <vt:lpstr>Analyze Lap Performance for the Following Scenarios</vt:lpstr>
      <vt:lpstr>Aircraft Data for Parts B, C, D, E</vt:lpstr>
      <vt:lpstr>Instructions</vt:lpstr>
      <vt:lpstr>Sanity Check: State of the Aircraft at the Finish Line for Part 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Design Methods 1 AE 6373 A/Q</dc:title>
  <dc:creator>Elise Beisecker</dc:creator>
  <cp:lastModifiedBy>Imon Chakraborty</cp:lastModifiedBy>
  <cp:revision>675</cp:revision>
  <dcterms:created xsi:type="dcterms:W3CDTF">2006-08-20T23:01:30Z</dcterms:created>
  <dcterms:modified xsi:type="dcterms:W3CDTF">2026-04-25T21:51:11Z</dcterms:modified>
</cp:coreProperties>
</file>