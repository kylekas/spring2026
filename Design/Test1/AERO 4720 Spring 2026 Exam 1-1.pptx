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8"/>
  </p:notesMasterIdLst>
  <p:handoutMasterIdLst>
    <p:handoutMasterId r:id="rId9"/>
  </p:handoutMasterIdLst>
  <p:sldIdLst>
    <p:sldId id="256" r:id="rId2"/>
    <p:sldId id="884" r:id="rId3"/>
    <p:sldId id="890" r:id="rId4"/>
    <p:sldId id="891" r:id="rId5"/>
    <p:sldId id="892" r:id="rId6"/>
    <p:sldId id="8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99FF66"/>
    <a:srgbClr val="FFFFCC"/>
    <a:srgbClr val="CC3300"/>
    <a:srgbClr val="FF9900"/>
    <a:srgbClr val="CC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8" autoAdjust="0"/>
    <p:restoredTop sz="96374" autoAdjust="0"/>
  </p:normalViewPr>
  <p:slideViewPr>
    <p:cSldViewPr>
      <p:cViewPr varScale="1">
        <p:scale>
          <a:sx n="98" d="100"/>
          <a:sy n="98" d="100"/>
        </p:scale>
        <p:origin x="822" y="3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6872"/>
    </p:cViewPr>
  </p:sorterViewPr>
  <p:notesViewPr>
    <p:cSldViewPr>
      <p:cViewPr varScale="1">
        <p:scale>
          <a:sx n="87" d="100"/>
          <a:sy n="87" d="100"/>
        </p:scale>
        <p:origin x="298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8F4704-224D-BF0C-F730-F5DE3BC63A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D59D3-C18F-CAA5-E321-0A5F5507F7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0109C-28A8-4C01-A387-0EA5A0BECDA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8C5FCD-3BF2-FA43-48EA-555725A673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1ED2C-F299-433F-9FFF-90830007C47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192DDA-A76B-7B02-ED41-6A4E0966E3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0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E190521-9940-4C2A-A96F-6B5A2EFD8B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345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1B2C68-2FEB-47D3-B70B-5DCFF17C046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4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DF0-544E-FE49-9199-399EAA0F0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AA75B-17A0-6D9F-E6DF-37BF6DDC9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0BE95-8FF7-321C-3CB3-B5BCAAEC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8825-90A4-9A52-6D45-9892AB2D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B12B-3611-94BF-8AA6-898C3EE0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FE3D-1CFC-EB6F-6CB5-C73D78F6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2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483F-6B28-E58F-804E-A908118A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DF13B-BB58-763C-415D-5BFAE715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1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8A4F1-3C1E-35F0-083E-5EF73E6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8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4F77-46A6-57B6-3317-BAC8360E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D239D-2D87-EF51-CA68-2B6DFA1A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B2367-0A6B-F24B-7DC4-D4497327D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C9751-851E-3246-CAB6-EEC89FC8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F8A54-D24F-39B0-6D14-02C30DCB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F1FE-BBF5-E18E-D83C-24FC56B2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2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hyperlink" Target="http://www.vsddl.com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54615902-F3E5-237D-723E-8FF89C86E4D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36288" y="3139464"/>
            <a:ext cx="6821217" cy="548640"/>
          </a:xfrm>
          <a:prstGeom prst="rect">
            <a:avLst/>
          </a:prstGeom>
          <a:solidFill>
            <a:srgbClr val="F5750B"/>
          </a:solidFill>
          <a:ln w="952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plastic"/>
        </p:spPr>
        <p:txBody>
          <a:bodyPr anchor="ctr" anchorCtr="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Auburn Aerospace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F23E6E-C89B-60D0-D4F1-2889808C53E6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alpha val="88000"/>
                </a:sysClr>
              </a:gs>
              <a:gs pos="99000">
                <a:srgbClr val="4472C4">
                  <a:lumMod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www.vsddl.com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</a:t>
            </a: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Vehicle    Systems,    Dynamics,                               and    Design   Laboratory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1D85D-9987-2919-41BA-636EF898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51" y="184150"/>
            <a:ext cx="11353497" cy="376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BC36A-5409-B7D9-CA72-D9737608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52" y="749994"/>
            <a:ext cx="11353498" cy="5693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84657-B2C7-3372-7BC2-5ADEB333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6943" y="6449742"/>
            <a:ext cx="4415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9B325980-D574-48EE-A4F3-82B664B4937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4F4E76-E9E9-870D-A931-DE83CDA272E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8100" t="25002" r="18100" b="34093"/>
          <a:stretch/>
        </p:blipFill>
        <p:spPr>
          <a:xfrm>
            <a:off x="5867400" y="6509201"/>
            <a:ext cx="770468" cy="3151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A81FA6-0B5F-A0C8-B333-D02978C44902}"/>
              </a:ext>
            </a:extLst>
          </p:cNvPr>
          <p:cNvSpPr/>
          <p:nvPr/>
        </p:nvSpPr>
        <p:spPr>
          <a:xfrm>
            <a:off x="628952" y="629854"/>
            <a:ext cx="11471909" cy="511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143000"/>
            <a:ext cx="7772400" cy="14700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Exam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4B7A5-E63B-0E05-7BE4-56E868C03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AERO 4720 Aircraft Design II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2EA5-B2B2-DF12-8554-4CCC84DF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Hybrid-Electric Propulsion – Power Flow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C4590-8333-C4F4-599B-EDB05217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91" y="762000"/>
            <a:ext cx="11414709" cy="55643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67D87-6377-0D5B-EB2E-D9270E5F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81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DAEE-A900-C1DE-CE84-25CEBCCB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B7EDB-988E-6ED2-11B2-23AC1FE3E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System description</a:t>
                </a:r>
              </a:p>
              <a:p>
                <a:r>
                  <a:rPr lang="en-US" dirty="0"/>
                  <a:t>Component efficiencies: motor – 90%, generator – 90%, gearbox – 98%, battery – 97%</a:t>
                </a:r>
              </a:p>
              <a:p>
                <a:r>
                  <a:rPr lang="en-US" dirty="0"/>
                  <a:t>Number of turbogenerators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tg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dirty="0"/>
                  <a:t>): 2</a:t>
                </a:r>
              </a:p>
              <a:p>
                <a:r>
                  <a:rPr lang="en-US" dirty="0"/>
                  <a:t>Number of battery packs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𝑏𝑎</m:t>
                        </m:r>
                      </m:sub>
                    </m:sSub>
                  </m:oMath>
                </a14:m>
                <a:r>
                  <a:rPr lang="en-US" dirty="0"/>
                  <a:t>): 4</a:t>
                </a:r>
              </a:p>
              <a:p>
                <a:r>
                  <a:rPr lang="en-US" dirty="0"/>
                  <a:t>For any “nominal” condition, all turbogenerators and battery packs are assumed operational</a:t>
                </a:r>
              </a:p>
              <a:p>
                <a:r>
                  <a:rPr lang="en-US" dirty="0"/>
                  <a:t>For any “degraded” condition, any component not specified as failed is to be assumed operational</a:t>
                </a:r>
              </a:p>
              <a:p>
                <a:endParaRPr lang="en-US" dirty="0"/>
              </a:p>
              <a:p>
                <a:r>
                  <a:rPr lang="en-US" dirty="0"/>
                  <a:t>Your job is to evaluate the following point-performance constraints and size (find the required rated power) of:</a:t>
                </a:r>
              </a:p>
              <a:p>
                <a:pPr lvl="1"/>
                <a:r>
                  <a:rPr lang="en-US" dirty="0"/>
                  <a:t>Lift motors (LM), cruise motor (CM), generators (GEN), gearbox (GB), turboshaft (TS), battery pack (BATT)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Constraint 1:</a:t>
                </a:r>
                <a:r>
                  <a:rPr lang="en-US" dirty="0"/>
                  <a:t> Nominal cruise, no recharge</a:t>
                </a:r>
              </a:p>
              <a:p>
                <a:pPr lvl="1"/>
                <a:r>
                  <a:rPr lang="en-US" dirty="0"/>
                  <a:t>Cruise prop (CP) consumes 250 kW; all lift props (LP) are stopped (consume no power)</a:t>
                </a:r>
              </a:p>
              <a:p>
                <a:pPr lvl="1"/>
                <a:r>
                  <a:rPr lang="en-US" dirty="0"/>
                  <a:t>Battery is isolated (neither discharging nor recharging)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Constraint 2:</a:t>
                </a:r>
                <a:r>
                  <a:rPr lang="en-US" dirty="0"/>
                  <a:t> Nominal cruise with recharge</a:t>
                </a:r>
              </a:p>
              <a:p>
                <a:pPr lvl="1"/>
                <a:r>
                  <a:rPr lang="en-US" dirty="0"/>
                  <a:t>Cruise prop (CP) consumes 240 kW; all lift props (LP) are stopped (consume no power)</a:t>
                </a:r>
              </a:p>
              <a:p>
                <a:pPr lvl="1"/>
                <a:r>
                  <a:rPr lang="en-US" dirty="0"/>
                  <a:t>Battery is recharged at the rate of 20 kW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B7EDB-988E-6ED2-11B2-23AC1FE3E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9" t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00BA-30D3-0EDD-D210-F6FE9AAB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5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EB6C-116D-F8B5-E2F1-E299EC6D3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9A26-47CC-7042-875E-CF36ADC6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CA5AF-2058-32ED-5B17-05BFAB9A9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Constraint 3:</a:t>
            </a:r>
            <a:r>
              <a:rPr lang="en-US" dirty="0"/>
              <a:t> Degraded cruise</a:t>
            </a:r>
          </a:p>
          <a:p>
            <a:pPr lvl="1"/>
            <a:r>
              <a:rPr lang="en-US" dirty="0"/>
              <a:t>One turbogenerator has failed, the aircraft is limping home at reduced speed</a:t>
            </a:r>
          </a:p>
          <a:p>
            <a:pPr lvl="1"/>
            <a:r>
              <a:rPr lang="en-US" dirty="0"/>
              <a:t>Cruise prop consumes 180 kW; all lift props are stopped (consume no power)</a:t>
            </a:r>
          </a:p>
          <a:p>
            <a:pPr lvl="1"/>
            <a:r>
              <a:rPr lang="en-US" dirty="0"/>
              <a:t>Battery is isolated (neither discharging nor recharging)</a:t>
            </a:r>
          </a:p>
          <a:p>
            <a:pPr lvl="1"/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 Since the turbo-shaft engines are sized based on cruise conditions (nominal or degraded), evaluate Constraints 1, 2, and 3, determine the rated power of the turbo-shaft engines (TS). </a:t>
            </a:r>
          </a:p>
          <a:p>
            <a:endParaRPr lang="en-US" dirty="0"/>
          </a:p>
          <a:p>
            <a:r>
              <a:rPr lang="en-US" b="1" dirty="0"/>
              <a:t>Constraint 4:</a:t>
            </a:r>
            <a:r>
              <a:rPr lang="en-US" dirty="0"/>
              <a:t> Nominal hover</a:t>
            </a:r>
          </a:p>
          <a:p>
            <a:pPr lvl="1"/>
            <a:r>
              <a:rPr lang="en-US" dirty="0"/>
              <a:t>Each lift prop (LP) consumes 75 kW, cruise prop (CP) is inactive</a:t>
            </a:r>
          </a:p>
          <a:p>
            <a:pPr lvl="1"/>
            <a:r>
              <a:rPr lang="en-US" dirty="0"/>
              <a:t>Both turboshaft engines (TS) are operating at their rated power</a:t>
            </a:r>
          </a:p>
          <a:p>
            <a:pPr lvl="1"/>
            <a:r>
              <a:rPr lang="en-US" dirty="0"/>
              <a:t>Battery power path supplies the remaining power</a:t>
            </a:r>
          </a:p>
          <a:p>
            <a:pPr lvl="1"/>
            <a:endParaRPr lang="en-US" dirty="0"/>
          </a:p>
          <a:p>
            <a:r>
              <a:rPr lang="en-US" b="1" dirty="0"/>
              <a:t>Constraint 5:</a:t>
            </a:r>
            <a:r>
              <a:rPr lang="en-US" dirty="0"/>
              <a:t> Degraded hover, 1 turbo-shaft failed</a:t>
            </a:r>
          </a:p>
          <a:p>
            <a:pPr lvl="1"/>
            <a:r>
              <a:rPr lang="en-US" dirty="0"/>
              <a:t>Each lift prop (LP) consumes 75 kW, cruise prop (CP) is inactive</a:t>
            </a:r>
          </a:p>
          <a:p>
            <a:pPr lvl="1"/>
            <a:r>
              <a:rPr lang="en-US" dirty="0"/>
              <a:t>One turbo-shaft failed; the other one operates at its rated power</a:t>
            </a:r>
          </a:p>
          <a:p>
            <a:pPr lvl="1"/>
            <a:r>
              <a:rPr lang="en-US" dirty="0"/>
              <a:t>Battery power path supplies the remaining power requirement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9944-1752-1196-ED86-B6921031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46B9-F1CC-0915-D914-AD351D81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FFD2-539D-5D30-AE97-3BFEFBFC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32CAE-4BEB-14C3-2C5C-08143BF1C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Constraint 6:</a:t>
            </a:r>
            <a:r>
              <a:rPr lang="en-US" dirty="0"/>
              <a:t> Degraded hover, 1 battery pack failed</a:t>
            </a:r>
          </a:p>
          <a:p>
            <a:pPr lvl="1"/>
            <a:r>
              <a:rPr lang="en-US" dirty="0"/>
              <a:t>Each lift prop (LP) consumes 75 kW, cruise prop (CP) is inactive</a:t>
            </a:r>
          </a:p>
          <a:p>
            <a:pPr lvl="1"/>
            <a:r>
              <a:rPr lang="en-US" dirty="0"/>
              <a:t>Both turboshaft engines (TS) are operating at their rated power</a:t>
            </a:r>
          </a:p>
          <a:p>
            <a:pPr lvl="1"/>
            <a:r>
              <a:rPr lang="en-US" dirty="0"/>
              <a:t>Battery power path supplies the remaining power, but with one battery pack failed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Constraint 7:</a:t>
            </a:r>
            <a:r>
              <a:rPr lang="en-US" dirty="0"/>
              <a:t> Degraded hover, two LP’s inoperative</a:t>
            </a:r>
          </a:p>
          <a:p>
            <a:pPr lvl="1"/>
            <a:r>
              <a:rPr lang="en-US" dirty="0"/>
              <a:t>Assume LP-1 has failed and diagonally opposite LP-8 has been shut down for moment balance</a:t>
            </a:r>
          </a:p>
          <a:p>
            <a:pPr lvl="1"/>
            <a:r>
              <a:rPr lang="en-US" dirty="0"/>
              <a:t>Remaining LPs each consume 133 kW</a:t>
            </a:r>
          </a:p>
          <a:p>
            <a:pPr lvl="1"/>
            <a:r>
              <a:rPr lang="en-US" dirty="0"/>
              <a:t>Both turboshaft engines (TS) are operating at their rated power</a:t>
            </a:r>
          </a:p>
          <a:p>
            <a:pPr lvl="1"/>
            <a:r>
              <a:rPr lang="en-US" dirty="0"/>
              <a:t>Battery power path supplies the remaining power requirement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423FD-08AF-4D3A-21A1-4F2A1523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5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02ED-FBB1-EFB8-BFFA-DEE8C9B1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4BC9E-87C5-4089-ABC2-B6AACD6D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C6442C-7D1A-4AEB-9A5B-F4032014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the solutions of each constraint in the spreadsheet that will be provided</a:t>
            </a:r>
          </a:p>
          <a:p>
            <a:pPr lvl="1"/>
            <a:r>
              <a:rPr lang="en-US" dirty="0"/>
              <a:t>Points: 10 points for each constraint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the rated power of each component and provided specific power (kW/kg) to estimate propulsion system mass</a:t>
            </a:r>
          </a:p>
          <a:p>
            <a:pPr lvl="1"/>
            <a:r>
              <a:rPr lang="en-US" dirty="0"/>
              <a:t>Points: </a:t>
            </a:r>
          </a:p>
          <a:p>
            <a:pPr lvl="2"/>
            <a:r>
              <a:rPr lang="en-US" dirty="0"/>
              <a:t>10 for correctly identifying the constraint that sizes each component (e.g., constraint 1, </a:t>
            </a:r>
            <a:r>
              <a:rPr lang="en-US"/>
              <a:t>etc.)</a:t>
            </a:r>
            <a:endParaRPr lang="en-US" dirty="0"/>
          </a:p>
          <a:p>
            <a:pPr lvl="2"/>
            <a:r>
              <a:rPr lang="en-US" dirty="0"/>
              <a:t>10 for correct computation of component masses</a:t>
            </a:r>
          </a:p>
          <a:p>
            <a:pPr lvl="2"/>
            <a:r>
              <a:rPr lang="en-US" dirty="0"/>
              <a:t>10 for correct computation of total system mass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4C7D6-2C21-DD3A-77F8-35474DB10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0" y="1371263"/>
            <a:ext cx="11519536" cy="17218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EEC564-E6E5-452F-8E36-870F04BD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635" y="4419600"/>
            <a:ext cx="5439852" cy="199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37316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F8DA762-9572-43C1-9E6E-EB35BDB68FA8}" vid="{E36CBB75-1DDD-404D-925A-BCF5C3884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8777</TotalTime>
  <Words>569</Words>
  <Application>Microsoft Office PowerPoint</Application>
  <PresentationFormat>Widescreen</PresentationFormat>
  <Paragraphs>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Wingdings</vt:lpstr>
      <vt:lpstr>1_Theme1</vt:lpstr>
      <vt:lpstr>Exam 1</vt:lpstr>
      <vt:lpstr>Hybrid-Electric Propulsion – Power Flow Relationships</vt:lpstr>
      <vt:lpstr>Problem 1</vt:lpstr>
      <vt:lpstr>Problem 1</vt:lpstr>
      <vt:lpstr>Problem 1</vt:lpstr>
      <vt:lpstr>Problem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Design Methods 1 AE 6373 A/Q</dc:title>
  <dc:creator>Elise Beisecker</dc:creator>
  <cp:lastModifiedBy>Imon Chakraborty</cp:lastModifiedBy>
  <cp:revision>600</cp:revision>
  <dcterms:created xsi:type="dcterms:W3CDTF">2006-08-20T23:01:30Z</dcterms:created>
  <dcterms:modified xsi:type="dcterms:W3CDTF">2026-01-22T18:18:51Z</dcterms:modified>
</cp:coreProperties>
</file>