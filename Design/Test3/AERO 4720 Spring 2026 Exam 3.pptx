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1" r:id="rId1"/>
  </p:sldMasterIdLst>
  <p:notesMasterIdLst>
    <p:notesMasterId r:id="rId6"/>
  </p:notesMasterIdLst>
  <p:handoutMasterIdLst>
    <p:handoutMasterId r:id="rId7"/>
  </p:handoutMasterIdLst>
  <p:sldIdLst>
    <p:sldId id="256" r:id="rId2"/>
    <p:sldId id="895" r:id="rId3"/>
    <p:sldId id="896" r:id="rId4"/>
    <p:sldId id="89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99FF66"/>
    <a:srgbClr val="FFFFCC"/>
    <a:srgbClr val="CC3300"/>
    <a:srgbClr val="FF9900"/>
    <a:srgbClr val="CC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98" autoAdjust="0"/>
    <p:restoredTop sz="96374" autoAdjust="0"/>
  </p:normalViewPr>
  <p:slideViewPr>
    <p:cSldViewPr>
      <p:cViewPr varScale="1">
        <p:scale>
          <a:sx n="106" d="100"/>
          <a:sy n="106" d="100"/>
        </p:scale>
        <p:origin x="54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6872"/>
    </p:cViewPr>
  </p:sorterViewPr>
  <p:notesViewPr>
    <p:cSldViewPr>
      <p:cViewPr varScale="1">
        <p:scale>
          <a:sx n="87" d="100"/>
          <a:sy n="87" d="100"/>
        </p:scale>
        <p:origin x="298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8F4704-224D-BF0C-F730-F5DE3BC63A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BD59D3-C18F-CAA5-E321-0A5F5507F7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0109C-28A8-4C01-A387-0EA5A0BECDA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8C5FCD-3BF2-FA43-48EA-555725A673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1ED2C-F299-433F-9FFF-90830007C47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192DDA-A76B-7B02-ED41-6A4E0966E3E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200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5E190521-9940-4C2A-A96F-6B5A2EFD8B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345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1B2C68-2FEB-47D3-B70B-5DCFF17C046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44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8DF0-544E-FE49-9199-399EAA0F0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AA75B-17A0-6D9F-E6DF-37BF6DDC9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0BE95-8FF7-321C-3CB3-B5BCAAEC0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9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8825-90A4-9A52-6D45-9892AB2D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0B12B-3611-94BF-8AA6-898C3EE06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2FE3D-1CFC-EB6F-6CB5-C73D78F69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27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C483F-6B28-E58F-804E-A908118A4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DF13B-BB58-763C-415D-5BFAE7152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1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8A4F1-3C1E-35F0-083E-5EF73E656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8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4F77-46A6-57B6-3317-BAC8360E4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D239D-2D87-EF51-CA68-2B6DFA1A5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B2367-0A6B-F24B-7DC4-D4497327D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C9751-851E-3246-CAB6-EEC89FC84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F8A54-D24F-39B0-6D14-02C30DCBD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2F1FE-BBF5-E18E-D83C-24FC56B2B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22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5">
            <a:extLst>
              <a:ext uri="{FF2B5EF4-FFF2-40B4-BE49-F238E27FC236}">
                <a16:creationId xmlns:a16="http://schemas.microsoft.com/office/drawing/2014/main" id="{54615902-F3E5-237D-723E-8FF89C86E4D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136288" y="3139464"/>
            <a:ext cx="6821217" cy="548640"/>
          </a:xfrm>
          <a:prstGeom prst="rect">
            <a:avLst/>
          </a:prstGeom>
          <a:solidFill>
            <a:srgbClr val="F5750B"/>
          </a:solidFill>
          <a:ln w="9525">
            <a:noFill/>
            <a:miter lim="800000"/>
            <a:headEnd/>
            <a:tailEnd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prstMaterial="plastic"/>
        </p:spPr>
        <p:txBody>
          <a:bodyPr anchor="ctr" anchorCtr="1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Auburn Aerospace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F23E6E-C89B-60D0-D4F1-2889808C53E6}"/>
              </a:ext>
            </a:extLst>
          </p:cNvPr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alpha val="88000"/>
                </a:sysClr>
              </a:gs>
              <a:gs pos="99000">
                <a:srgbClr val="4472C4">
                  <a:lumMod val="7500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1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61D85D-9987-2919-41BA-636EF898A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951" y="184150"/>
            <a:ext cx="11353497" cy="3767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BC36A-5409-B7D9-CA72-D9737608E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952" y="749994"/>
            <a:ext cx="11353498" cy="5693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84657-B2C7-3372-7BC2-5ADEB333C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6943" y="6449742"/>
            <a:ext cx="4415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9B325980-D574-48EE-A4F3-82B664B4937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A81FA6-0B5F-A0C8-B333-D02978C44902}"/>
              </a:ext>
            </a:extLst>
          </p:cNvPr>
          <p:cNvSpPr/>
          <p:nvPr/>
        </p:nvSpPr>
        <p:spPr>
          <a:xfrm>
            <a:off x="628952" y="629854"/>
            <a:ext cx="11471909" cy="511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9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143000"/>
            <a:ext cx="7772400" cy="14700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Exam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4B7A5-E63B-0E05-7BE4-56E868C035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AERO 4720 Aircraft Design II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AF2ED-289E-6935-FB2B-02BB0A742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1: Subsonic Inlet Design [40 points]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D1481B-1CD1-2D6B-C32E-BEB9E17AB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Design flight condition:</a:t>
                </a:r>
              </a:p>
              <a:p>
                <a:pPr lvl="1"/>
                <a:r>
                  <a:rPr lang="en-US" dirty="0"/>
                  <a:t>Freestream: </a:t>
                </a:r>
                <a:br>
                  <a:rPr lang="en-US" dirty="0"/>
                </a:br>
                <a:r>
                  <a:rPr lang="en-US" dirty="0"/>
                  <a:t>density 0.3795 kg/m</a:t>
                </a:r>
                <a:r>
                  <a:rPr lang="en-US" baseline="30000" dirty="0"/>
                  <a:t>3</a:t>
                </a:r>
                <a:r>
                  <a:rPr lang="en-US" dirty="0"/>
                  <a:t>, Mach 0.85, airspeed 252 m/s</a:t>
                </a:r>
              </a:p>
              <a:p>
                <a:pPr lvl="1"/>
                <a:r>
                  <a:rPr lang="en-US" dirty="0"/>
                  <a:t>At inlet front face: Mach 0.63</a:t>
                </a:r>
              </a:p>
              <a:p>
                <a:pPr lvl="1"/>
                <a:r>
                  <a:rPr lang="en-US" dirty="0"/>
                  <a:t>At engine front face: Mach 0.40</a:t>
                </a:r>
              </a:p>
              <a:p>
                <a:pPr lvl="1"/>
                <a:r>
                  <a:rPr lang="en-US" dirty="0"/>
                  <a:t>Mass flow rate through engine: 540 kg/s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Find the inlet mass flow area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/>
                  <a:t>) (in sq m) </a:t>
                </a:r>
                <a:r>
                  <a:rPr lang="en-US" b="1" dirty="0"/>
                  <a:t>[10 points]</a:t>
                </a:r>
              </a:p>
              <a:p>
                <a:r>
                  <a:rPr lang="en-US" dirty="0"/>
                  <a:t>Find the inlet </a:t>
                </a:r>
                <a:r>
                  <a:rPr lang="en-US" b="1" u="sng" dirty="0"/>
                  <a:t>diameter</a:t>
                </a:r>
                <a:r>
                  <a:rPr lang="en-US" dirty="0"/>
                  <a:t> (in meters) </a:t>
                </a:r>
                <a:r>
                  <a:rPr lang="en-US" b="1" dirty="0"/>
                  <a:t>[15 points]</a:t>
                </a:r>
              </a:p>
              <a:p>
                <a:r>
                  <a:rPr lang="en-US" dirty="0"/>
                  <a:t>Find the engine front face </a:t>
                </a:r>
                <a:r>
                  <a:rPr lang="en-US" b="1" u="sng" dirty="0"/>
                  <a:t>diameter</a:t>
                </a:r>
                <a:r>
                  <a:rPr lang="en-US" dirty="0"/>
                  <a:t> (in meters) </a:t>
                </a:r>
                <a:r>
                  <a:rPr lang="en-US" b="1" dirty="0"/>
                  <a:t>[15 points]</a:t>
                </a:r>
              </a:p>
              <a:p>
                <a:endParaRPr lang="en-US" dirty="0"/>
              </a:p>
              <a:p>
                <a:r>
                  <a:rPr lang="en-US" dirty="0"/>
                  <a:t>Hints:</a:t>
                </a:r>
              </a:p>
              <a:p>
                <a:pPr lvl="1"/>
                <a:r>
                  <a:rPr lang="en-US" dirty="0"/>
                  <a:t>Far upstream of the engine, use the continuity equation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𝐴𝑉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Use Eq. 10.16 and 10.17 to relate areas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Use Eq. 10.16 and 10.17 one more time to relate area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to engine front face area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D1481B-1CD1-2D6B-C32E-BEB9E17AB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2" t="-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CA18E-9948-68A7-6A37-8A760AB69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9424F6-23AE-AAB4-F6B8-DDE0087FC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498" y="749994"/>
            <a:ext cx="5205988" cy="321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DF181-CB4B-6AE2-0FB3-D472503DF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2: Supersonic Pitot Inlet Design [40 points]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67AF1-EB8A-6836-3117-3B92FE71A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flight condition:</a:t>
            </a:r>
          </a:p>
          <a:p>
            <a:pPr lvl="1"/>
            <a:r>
              <a:rPr lang="en-US" dirty="0"/>
              <a:t>Freestream: </a:t>
            </a:r>
            <a:br>
              <a:rPr lang="en-US" dirty="0"/>
            </a:br>
            <a:r>
              <a:rPr lang="en-US" dirty="0"/>
              <a:t>density 0.3795 kg/m</a:t>
            </a:r>
            <a:r>
              <a:rPr lang="en-US" baseline="30000" dirty="0"/>
              <a:t>3</a:t>
            </a:r>
            <a:r>
              <a:rPr lang="en-US" dirty="0"/>
              <a:t>, Mach 1.40, airspeed 415 m/s</a:t>
            </a:r>
          </a:p>
          <a:p>
            <a:pPr lvl="1"/>
            <a:r>
              <a:rPr lang="en-US" dirty="0"/>
              <a:t>At engine front face: Mach 0.50</a:t>
            </a:r>
          </a:p>
          <a:p>
            <a:pPr lvl="1"/>
            <a:r>
              <a:rPr lang="en-US" dirty="0"/>
              <a:t>Mass flow rate through engine: 120 kg/s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Assuming a normal shock at the inlet, find the inlet Mach number</a:t>
            </a:r>
            <a:br>
              <a:rPr lang="en-US" dirty="0"/>
            </a:br>
            <a:r>
              <a:rPr lang="en-US" dirty="0"/>
              <a:t>(just downstream of the normal shock) </a:t>
            </a:r>
            <a:r>
              <a:rPr lang="en-US" b="1" dirty="0"/>
              <a:t>[10 points]</a:t>
            </a:r>
          </a:p>
          <a:p>
            <a:endParaRPr lang="en-US" dirty="0"/>
          </a:p>
          <a:p>
            <a:r>
              <a:rPr lang="en-US" dirty="0"/>
              <a:t>Find the inlet </a:t>
            </a:r>
            <a:r>
              <a:rPr lang="en-US" b="1" u="sng" dirty="0"/>
              <a:t>diameter</a:t>
            </a:r>
            <a:r>
              <a:rPr lang="en-US" dirty="0"/>
              <a:t> (in meters) </a:t>
            </a:r>
            <a:r>
              <a:rPr lang="en-US" b="1" dirty="0"/>
              <a:t>[15 points]</a:t>
            </a:r>
          </a:p>
          <a:p>
            <a:endParaRPr lang="en-US" dirty="0"/>
          </a:p>
          <a:p>
            <a:r>
              <a:rPr lang="en-US" dirty="0"/>
              <a:t>Find the engine front face </a:t>
            </a:r>
            <a:r>
              <a:rPr lang="en-US" b="1" u="sng" dirty="0"/>
              <a:t>diameter</a:t>
            </a:r>
            <a:r>
              <a:rPr lang="en-US" dirty="0"/>
              <a:t> (in meters) </a:t>
            </a:r>
            <a:r>
              <a:rPr lang="en-US" b="1" dirty="0"/>
              <a:t>[15 points]</a:t>
            </a:r>
          </a:p>
          <a:p>
            <a:endParaRPr lang="en-US" dirty="0"/>
          </a:p>
          <a:p>
            <a:r>
              <a:rPr lang="en-US" dirty="0"/>
              <a:t>Hints: two of the three hints from Problem 1 apply here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9FB06-746F-FF7E-33FB-3F273AF2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3837D4-621A-C17E-E09B-21749F1E4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476" y="3892335"/>
            <a:ext cx="5043025" cy="20453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43E004-69C3-2EC9-97EE-BA519FEC0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101" y="3042316"/>
            <a:ext cx="3962400" cy="7871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8F499E-A3EA-581C-9BFF-EA0A9B8C06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08" b="9725"/>
          <a:stretch>
            <a:fillRect/>
          </a:stretch>
        </p:blipFill>
        <p:spPr>
          <a:xfrm>
            <a:off x="9346244" y="769610"/>
            <a:ext cx="2647521" cy="2209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AC5B20-5C0A-DDFC-3551-3A6BA1B11B37}"/>
              </a:ext>
            </a:extLst>
          </p:cNvPr>
          <p:cNvSpPr txBox="1"/>
          <p:nvPr/>
        </p:nvSpPr>
        <p:spPr>
          <a:xfrm>
            <a:off x="8229600" y="5997942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NACA Report 1135</a:t>
            </a:r>
          </a:p>
        </p:txBody>
      </p:sp>
    </p:spTree>
    <p:extLst>
      <p:ext uri="{BB962C8B-B14F-4D97-AF65-F5344CB8AC3E}">
        <p14:creationId xmlns:p14="http://schemas.microsoft.com/office/powerpoint/2010/main" val="654794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9239B-3A3D-A429-0A62-1C3753681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3 [20 points]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3DDE1F-5B4D-E0DB-9DB9-F19ECC72E8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Solve this problem using the simplified “magic disk” thrust analysis model</a:t>
                </a:r>
              </a:p>
              <a:p>
                <a:endParaRPr lang="en-US" dirty="0"/>
              </a:p>
              <a:p>
                <a:r>
                  <a:rPr lang="en-US" dirty="0"/>
                  <a:t>Design flight condition: </a:t>
                </a:r>
              </a:p>
              <a:p>
                <a:pPr lvl="1"/>
                <a:r>
                  <a:rPr lang="en-US" dirty="0"/>
                  <a:t>True airspeed: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212 m/s </a:t>
                </a:r>
              </a:p>
              <a:p>
                <a:pPr lvl="1"/>
                <a:r>
                  <a:rPr lang="en-US" dirty="0"/>
                  <a:t>Air density: 0.46 kg/m</a:t>
                </a:r>
                <a:r>
                  <a:rPr lang="en-US" baseline="30000" dirty="0"/>
                  <a:t>3</a:t>
                </a:r>
              </a:p>
              <a:p>
                <a:pPr lvl="1"/>
                <a:r>
                  <a:rPr lang="en-US" dirty="0"/>
                  <a:t>Thrust requirement: 20,000 N</a:t>
                </a:r>
              </a:p>
              <a:p>
                <a:pPr lvl="1"/>
                <a:endParaRPr lang="en-US" baseline="30000" dirty="0"/>
              </a:p>
              <a:p>
                <a:r>
                  <a:rPr lang="en-US" dirty="0"/>
                  <a:t>Fill out the table for the four cases given below, where this design</a:t>
                </a:r>
                <a:br>
                  <a:rPr lang="en-US" dirty="0"/>
                </a:br>
                <a:r>
                  <a:rPr lang="en-US" dirty="0"/>
                  <a:t>flight condition is achieved with four different magic disk areas.</a:t>
                </a:r>
                <a:br>
                  <a:rPr lang="en-US" dirty="0"/>
                </a:br>
                <a:r>
                  <a:rPr lang="en-US" dirty="0"/>
                  <a:t>[Each case </a:t>
                </a:r>
                <a:r>
                  <a:rPr lang="en-US" b="1" dirty="0"/>
                  <a:t>5 points]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3DDE1F-5B4D-E0DB-9DB9-F19ECC72E8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2" t="-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9E69F-A1EF-8392-A219-617C560A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9F9C1-6AA3-4836-B413-85EA651AECDC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E91987-7F1B-D6E0-93C3-392F54B99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846" y="830616"/>
            <a:ext cx="3426182" cy="29031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38FE193-B44A-7252-28D8-D9539BFCCC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1603438"/>
                  </p:ext>
                </p:extLst>
              </p:nvPr>
            </p:nvGraphicFramePr>
            <p:xfrm>
              <a:off x="787839" y="4267200"/>
              <a:ext cx="7467600" cy="2123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922781">
                      <a:extLst>
                        <a:ext uri="{9D8B030D-6E8A-4147-A177-3AD203B41FA5}">
                          <a16:colId xmlns:a16="http://schemas.microsoft.com/office/drawing/2014/main" val="1146229919"/>
                        </a:ext>
                      </a:extLst>
                    </a:gridCol>
                    <a:gridCol w="1568726">
                      <a:extLst>
                        <a:ext uri="{9D8B030D-6E8A-4147-A177-3AD203B41FA5}">
                          <a16:colId xmlns:a16="http://schemas.microsoft.com/office/drawing/2014/main" val="1098960214"/>
                        </a:ext>
                      </a:extLst>
                    </a:gridCol>
                    <a:gridCol w="1568726">
                      <a:extLst>
                        <a:ext uri="{9D8B030D-6E8A-4147-A177-3AD203B41FA5}">
                          <a16:colId xmlns:a16="http://schemas.microsoft.com/office/drawing/2014/main" val="3813639363"/>
                        </a:ext>
                      </a:extLst>
                    </a:gridCol>
                    <a:gridCol w="1807167">
                      <a:extLst>
                        <a:ext uri="{9D8B030D-6E8A-4147-A177-3AD203B41FA5}">
                          <a16:colId xmlns:a16="http://schemas.microsoft.com/office/drawing/2014/main" val="2318829051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81409725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Magic disk area [m</a:t>
                          </a:r>
                          <a:r>
                            <a:rPr lang="en-US" baseline="30000" dirty="0"/>
                            <a:t>2</a:t>
                          </a:r>
                          <a:r>
                            <a:rPr lang="en-US" dirty="0"/>
                            <a:t>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Mass flow rate [kg/s]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Accelerated flow speed,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oMath>
                          </a14:m>
                          <a:r>
                            <a:rPr lang="en-US" dirty="0"/>
                            <a:t> [m/s]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Propulsion efficiency (%)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7975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27988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98450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9190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93323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38FE193-B44A-7252-28D8-D9539BFCCC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1603438"/>
                  </p:ext>
                </p:extLst>
              </p:nvPr>
            </p:nvGraphicFramePr>
            <p:xfrm>
              <a:off x="787839" y="4267200"/>
              <a:ext cx="7467600" cy="2123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922781">
                      <a:extLst>
                        <a:ext uri="{9D8B030D-6E8A-4147-A177-3AD203B41FA5}">
                          <a16:colId xmlns:a16="http://schemas.microsoft.com/office/drawing/2014/main" val="1146229919"/>
                        </a:ext>
                      </a:extLst>
                    </a:gridCol>
                    <a:gridCol w="1568726">
                      <a:extLst>
                        <a:ext uri="{9D8B030D-6E8A-4147-A177-3AD203B41FA5}">
                          <a16:colId xmlns:a16="http://schemas.microsoft.com/office/drawing/2014/main" val="1098960214"/>
                        </a:ext>
                      </a:extLst>
                    </a:gridCol>
                    <a:gridCol w="1568726">
                      <a:extLst>
                        <a:ext uri="{9D8B030D-6E8A-4147-A177-3AD203B41FA5}">
                          <a16:colId xmlns:a16="http://schemas.microsoft.com/office/drawing/2014/main" val="3813639363"/>
                        </a:ext>
                      </a:extLst>
                    </a:gridCol>
                    <a:gridCol w="1807167">
                      <a:extLst>
                        <a:ext uri="{9D8B030D-6E8A-4147-A177-3AD203B41FA5}">
                          <a16:colId xmlns:a16="http://schemas.microsoft.com/office/drawing/2014/main" val="2318829051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81409725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Case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Magic disk area [m</a:t>
                          </a:r>
                          <a:r>
                            <a:rPr lang="en-US" baseline="30000" dirty="0"/>
                            <a:t>2</a:t>
                          </a:r>
                          <a:r>
                            <a:rPr lang="en-US" dirty="0"/>
                            <a:t>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Mass flow rate [kg/s]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5676" t="-4762" r="-90203" b="-24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Propulsion efficiency (%)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7975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27988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98450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91908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93323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19687182"/>
      </p:ext>
    </p:extLst>
  </p:cSld>
  <p:clrMapOvr>
    <a:masterClrMapping/>
  </p:clrMapOvr>
</p:sld>
</file>

<file path=ppt/theme/theme1.xml><?xml version="1.0" encoding="utf-8"?>
<a:theme xmlns:a="http://schemas.openxmlformats.org/drawingml/2006/main" name="1_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6F8DA762-9572-43C1-9E6E-EB35BDB68FA8}" vid="{E36CBB75-1DDD-404D-925A-BCF5C388489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8968</TotalTime>
  <Words>385</Words>
  <Application>Microsoft Office PowerPoint</Application>
  <PresentationFormat>Widescreen</PresentationFormat>
  <Paragraphs>59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Wingdings</vt:lpstr>
      <vt:lpstr>1_Theme1</vt:lpstr>
      <vt:lpstr>Exam 3</vt:lpstr>
      <vt:lpstr>Problem 1: Subsonic Inlet Design [40 points]</vt:lpstr>
      <vt:lpstr>Problem 2: Supersonic Pitot Inlet Design [40 points]</vt:lpstr>
      <vt:lpstr>Problem 3 [20 points]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Design Methods 1 AE 6373 A/Q</dc:title>
  <dc:creator>Elise Beisecker</dc:creator>
  <cp:lastModifiedBy>Imon Chakraborty</cp:lastModifiedBy>
  <cp:revision>628</cp:revision>
  <dcterms:created xsi:type="dcterms:W3CDTF">2006-08-20T23:01:30Z</dcterms:created>
  <dcterms:modified xsi:type="dcterms:W3CDTF">2026-04-09T05:34:32Z</dcterms:modified>
</cp:coreProperties>
</file>